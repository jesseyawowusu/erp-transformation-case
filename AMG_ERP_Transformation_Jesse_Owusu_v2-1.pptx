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38" d="100"/>
          <a:sy n="138"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E59C1893-CF1C-B147-98B5-21954440B5C2}" type="datetimeFigureOut">
              <a:rPr lang="en-US" smtClean="0"/>
              <a:t>6/16/2026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F777E4FD-1443-564B-B2A0-5EB118597A73}" type="slidenum">
              <a:rPr lang="en-US" smtClean="0"/>
              <a:t>‹#›</a:t>
            </a:fld>
            <a:endParaRPr lang="en-US"/>
          </a:p>
        </p:txBody>
      </p:sp>
    </p:spTree>
    <p:extLst>
      <p:ext uri="{BB962C8B-B14F-4D97-AF65-F5344CB8AC3E}">
        <p14:creationId xmlns:p14="http://schemas.microsoft.com/office/powerpoint/2010/main" val="1655977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Say: I was asked to advise AMG on how to replace their legacy ERP system with a modern cloud platform within 12 months without disrupting operations. This presentation walks through my recommended approach.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80% stat. Say: Last year, 80% of AMG's custom orders lost money they should have made. That is not a sales problem or a pricing problem. It is a systems problem. The rest of this slide explains exactly why.
For each bullet: explain it in plain language. The nightly sync failure means engineers update designs that the factory never sees. No margin visibility means leadership is flying blind. Excel reliance means critical business data lives on someone's laptop.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are in priority order — not equal weight. Fixing the BOM sync is so urgent that if the new ERP could only do one thing on day one, that would be it. The rest follow in sequence.
If asked why controlled retirement matters: switching everything off at once is like changing the engine of a plane while it is flying. You do it piece by piece.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timeline arrow as you talk. Say: We move left to right — Foundation, then Configure and Migrate, then Go-Live. Each phase has a clear entry and exit point.
The most important phase to explain is Phase 2. Parallel operations means both systems run at the same time. Staff enter data into both. We compare the outputs. Only when the new system's numbers match the old system's numbers do we switch over. It is the safety net that prevents a disaster.
Hypercare in Phase 3 means: extra technical support on standby around the clock for the first 30 days after go-live, in case anything breaks.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risk, say the consequence first before the mitigation. The consequence is what makes the risk real.
BOM quality: if we move bad product data into the new system, the factory still builds the wrong thing. We have just moved the problem to a more expensive location.
Scope creep: the number one reason ERP projects run over time and over budget. Every yes to a new requirement is a no to the deadline.
User adoption: you can build the most perfect system in the world, but if people keep using Excel instead, the transformation has failed.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on this slide is that deferring things is not failure — it is discipline. Trying to launch everything at once is what causes ERP projects to collapse.
On the dashboards deferral: explain it this way. If you build reports on top of data that is still settling after a major system change, the reports will show the wrong numbers. Leadership will lose trust in the new system. Wait one quarter, get clean data, then build the reports.
On payroll: getting payroll wrong means employees are not paid correctly. That is a legal and HR problem on top of a technology problem. Defer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sometimes surprises executives. They expect to mould the software to exactly how they work today. Explain why that is a trap.
Analogy: when you move into a new house, you adapt how you live to the layout of the house. You do not knock down walls to recreate your old house inside the new one. Same principle here.
If they push back and say their processes are unique: acknowledge it, but point out that AMG's current processes produced 80% margin erosion. The standard process probably cannot do worse.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means Key Performance Indicators — the specific numbers leadership checks to know if the business is healthy. For AMG the three most important are: contribution margin per order (are we making money on each job?), order backlog (how much work is coming?), and labour utilisation (are our people productive?).
On month-end close: explain it simply. At the end of every month, the finance team reconciles all transactions and produces reports for leadership. It is already stressful under normal conditions. Doing it for the first time on a brand new system with a hard deadline is a recipe for errors. We avoid that by planning the go-live for the middle of a month.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principles are what you come back to if an interviewer challenges any part of your strategy.
Principle 1 — if they ask why Phase 1 takes 3 months: because cleaning 20 years of data takes time. Rushing it means moving bad data into the new system.
Principle 2 — if they ask why parallel operations: because AMG cannot afford to find out the new system has problems after the old one is already switched off.
Principle 3 — if they ask what the biggest risk is: it is not technical. It is whether AMG's 200 employees will actually use the new system or go back to Excel. That is what determines whether this transformation delivers value or just costs money.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bringing everything back to the 80% figure from slide 2. Say: We started with the fact that 80% of AMG's custom orders lost money last year. That number is not going to fix itself. The longer AMG waits, the more it costs to unwind 20 years of fragmented systems.
The last bullet is the most important point to land. Say it directly: the technology is the easy part. What will determine whether this program succeeds or fails is whether the executive team holds the line on scope, supports the change management process, and stays committed when the program hits its difficult moments — and every transformation program hits difficult moments.
Then open to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2E4A8A">
              <a:alpha val="40000"/>
            </a:srgbClr>
          </a:solidFill>
          <a:ln w="12700">
            <a:solidFill>
              <a:srgbClr val="2E4A8A">
                <a:alpha val="40000"/>
              </a:srgbClr>
            </a:solidFill>
            <a:prstDash val="solid"/>
          </a:ln>
        </p:spPr>
        <p:txBody>
          <a:bodyPr/>
          <a:lstStyle/>
          <a:p>
            <a:endParaRPr lang="en-GH"/>
          </a:p>
        </p:txBody>
      </p:sp>
      <p:sp>
        <p:nvSpPr>
          <p:cNvPr id="3" name="Shape 1"/>
          <p:cNvSpPr/>
          <p:nvPr/>
        </p:nvSpPr>
        <p:spPr>
          <a:xfrm>
            <a:off x="-914400" y="3200400"/>
            <a:ext cx="3200400" cy="3200400"/>
          </a:xfrm>
          <a:prstGeom prst="ellipse">
            <a:avLst/>
          </a:prstGeom>
          <a:solidFill>
            <a:srgbClr val="0D9488">
              <a:alpha val="30000"/>
            </a:srgbClr>
          </a:solidFill>
          <a:ln w="12700">
            <a:solidFill>
              <a:srgbClr val="0D9488">
                <a:alpha val="30000"/>
              </a:srgbClr>
            </a:solidFill>
            <a:prstDash val="solid"/>
          </a:ln>
        </p:spPr>
        <p:txBody>
          <a:bodyPr/>
          <a:lstStyle/>
          <a:p>
            <a:endParaRPr lang="en-GH"/>
          </a:p>
        </p:txBody>
      </p:sp>
      <p:sp>
        <p:nvSpPr>
          <p:cNvPr id="4" name="Text 2"/>
          <p:cNvSpPr/>
          <p:nvPr/>
        </p:nvSpPr>
        <p:spPr>
          <a:xfrm>
            <a:off x="548640" y="640080"/>
            <a:ext cx="7772400" cy="457200"/>
          </a:xfrm>
          <a:prstGeom prst="rect">
            <a:avLst/>
          </a:prstGeom>
          <a:noFill/>
          <a:ln/>
        </p:spPr>
        <p:txBody>
          <a:bodyPr wrap="square" rtlCol="0" anchor="ctr"/>
          <a:lstStyle/>
          <a:p>
            <a:pPr marL="0" indent="0" algn="l">
              <a:buNone/>
            </a:pPr>
            <a:r>
              <a:rPr lang="en-US" sz="1200" b="1" kern="0" spc="400" dirty="0">
                <a:solidFill>
                  <a:srgbClr val="0D9488"/>
                </a:solidFill>
                <a:latin typeface="Calibri" pitchFamily="34" charset="0"/>
                <a:ea typeface="Calibri" pitchFamily="34" charset="-122"/>
                <a:cs typeface="Calibri" pitchFamily="34" charset="-120"/>
              </a:rPr>
              <a:t>ERP TRANSFORMATION STRATEGY</a:t>
            </a:r>
            <a:endParaRPr lang="en-US" sz="1200" dirty="0"/>
          </a:p>
        </p:txBody>
      </p:sp>
      <p:sp>
        <p:nvSpPr>
          <p:cNvPr id="5" name="Text 3"/>
          <p:cNvSpPr/>
          <p:nvPr/>
        </p:nvSpPr>
        <p:spPr>
          <a:xfrm>
            <a:off x="548640" y="1097280"/>
            <a:ext cx="7772400" cy="1645920"/>
          </a:xfrm>
          <a:prstGeom prst="rect">
            <a:avLst/>
          </a:prstGeom>
          <a:noFill/>
          <a:ln/>
        </p:spPr>
        <p:txBody>
          <a:bodyPr wrap="square"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Alpha Manufacturing</a:t>
            </a:r>
            <a:endParaRPr lang="en-US" sz="4200" dirty="0"/>
          </a:p>
          <a:p>
            <a:pPr marL="0" indent="0" algn="l">
              <a:buNone/>
            </a:pPr>
            <a:r>
              <a:rPr lang="en-US" sz="4200" b="1" dirty="0">
                <a:solidFill>
                  <a:srgbClr val="FFFFFF"/>
                </a:solidFill>
                <a:latin typeface="Cambria" pitchFamily="34" charset="0"/>
                <a:ea typeface="Cambria" pitchFamily="34" charset="-122"/>
                <a:cs typeface="Cambria" pitchFamily="34" charset="-120"/>
              </a:rPr>
              <a:t>Group (AMG)</a:t>
            </a:r>
            <a:endParaRPr lang="en-US" sz="4200" dirty="0"/>
          </a:p>
        </p:txBody>
      </p:sp>
      <p:sp>
        <p:nvSpPr>
          <p:cNvPr id="6" name="Text 4"/>
          <p:cNvSpPr/>
          <p:nvPr/>
        </p:nvSpPr>
        <p:spPr>
          <a:xfrm>
            <a:off x="548640" y="2834640"/>
            <a:ext cx="6858000" cy="822960"/>
          </a:xfrm>
          <a:prstGeom prst="rect">
            <a:avLst/>
          </a:prstGeom>
          <a:noFill/>
          <a:ln/>
        </p:spPr>
        <p:txBody>
          <a:bodyPr wrap="square" rtlCol="0" anchor="ctr"/>
          <a:lstStyle/>
          <a:p>
            <a:pPr marL="0" indent="0" algn="l">
              <a:buNone/>
            </a:pPr>
            <a:r>
              <a:rPr lang="en-US" sz="1400" dirty="0">
                <a:solidFill>
                  <a:srgbClr val="CADCFC"/>
                </a:solidFill>
                <a:latin typeface="Calibri" pitchFamily="34" charset="0"/>
                <a:ea typeface="Calibri" pitchFamily="34" charset="-122"/>
                <a:cs typeface="Calibri" pitchFamily="34" charset="-120"/>
              </a:rPr>
              <a:t>A Strategic Roadmap to Cloud ERP Migration and Digital Operational Excellence</a:t>
            </a:r>
            <a:endParaRPr lang="en-US" sz="1400" dirty="0"/>
          </a:p>
        </p:txBody>
      </p:sp>
      <p:sp>
        <p:nvSpPr>
          <p:cNvPr id="7" name="Text 5"/>
          <p:cNvSpPr/>
          <p:nvPr/>
        </p:nvSpPr>
        <p:spPr>
          <a:xfrm>
            <a:off x="548640" y="4389120"/>
            <a:ext cx="8229600" cy="365760"/>
          </a:xfrm>
          <a:prstGeom prst="rect">
            <a:avLst/>
          </a:prstGeom>
          <a:noFill/>
          <a:ln/>
        </p:spPr>
        <p:txBody>
          <a:bodyPr wrap="square" rtlCol="0" anchor="ctr"/>
          <a:lstStyle/>
          <a:p>
            <a:pPr marL="0" indent="0" algn="l">
              <a:buNone/>
            </a:pPr>
            <a:r>
              <a:rPr lang="en-US" sz="1000" dirty="0">
                <a:solidFill>
                  <a:srgbClr val="8BAFD4"/>
                </a:solidFill>
                <a:latin typeface="Calibri" pitchFamily="34" charset="0"/>
                <a:ea typeface="Calibri" pitchFamily="34" charset="-122"/>
                <a:cs typeface="Calibri" pitchFamily="34" charset="-120"/>
              </a:rPr>
              <a:t>Prepared by: Jesse Yaw Owusu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566928"/>
            <a:ext cx="8229600" cy="502920"/>
          </a:xfrm>
          <a:prstGeom prst="rect">
            <a:avLst/>
          </a:prstGeom>
          <a:noFill/>
          <a:ln/>
        </p:spPr>
        <p:txBody>
          <a:bodyPr wrap="square" rtlCol="0" anchor="ctr"/>
          <a:lstStyle/>
          <a:p>
            <a:pPr marL="0" indent="0">
              <a:buNone/>
            </a:pPr>
            <a:r>
              <a:rPr lang="en-US" sz="2600" b="1" dirty="0">
                <a:solidFill>
                  <a:srgbClr val="1A202C"/>
                </a:solidFill>
                <a:latin typeface="Cambria" pitchFamily="34" charset="0"/>
                <a:ea typeface="Cambria" pitchFamily="34" charset="-122"/>
                <a:cs typeface="Cambria" pitchFamily="34" charset="-120"/>
              </a:rPr>
              <a:t>AMG's Legacy Systems Are Costing the Business</a:t>
            </a:r>
            <a:endParaRPr lang="en-US" sz="2600" dirty="0"/>
          </a:p>
        </p:txBody>
      </p:sp>
      <p:sp>
        <p:nvSpPr>
          <p:cNvPr id="4" name="Shape 2"/>
          <p:cNvSpPr/>
          <p:nvPr/>
        </p:nvSpPr>
        <p:spPr>
          <a:xfrm>
            <a:off x="457200" y="1234440"/>
            <a:ext cx="2651760" cy="1417320"/>
          </a:xfrm>
          <a:prstGeom prst="roundRect">
            <a:avLst>
              <a:gd name="adj" fmla="val 5161"/>
            </a:avLst>
          </a:prstGeom>
          <a:solidFill>
            <a:srgbClr val="FFF5F5"/>
          </a:solidFill>
          <a:ln w="19050">
            <a:solidFill>
              <a:srgbClr val="FC8181"/>
            </a:solidFill>
            <a:prstDash val="solid"/>
          </a:ln>
        </p:spPr>
        <p:txBody>
          <a:bodyPr/>
          <a:lstStyle/>
          <a:p>
            <a:endParaRPr lang="en-GH"/>
          </a:p>
        </p:txBody>
      </p:sp>
      <p:sp>
        <p:nvSpPr>
          <p:cNvPr id="5" name="Text 3"/>
          <p:cNvSpPr/>
          <p:nvPr/>
        </p:nvSpPr>
        <p:spPr>
          <a:xfrm>
            <a:off x="457200" y="1280160"/>
            <a:ext cx="2651760" cy="685800"/>
          </a:xfrm>
          <a:prstGeom prst="rect">
            <a:avLst/>
          </a:prstGeom>
          <a:noFill/>
          <a:ln/>
        </p:spPr>
        <p:txBody>
          <a:bodyPr wrap="square" rtlCol="0" anchor="ctr"/>
          <a:lstStyle/>
          <a:p>
            <a:pPr marL="0" indent="0" algn="ctr">
              <a:buNone/>
            </a:pPr>
            <a:r>
              <a:rPr lang="en-US" sz="3800" b="1" dirty="0">
                <a:solidFill>
                  <a:srgbClr val="1A202C"/>
                </a:solidFill>
                <a:latin typeface="Cambria" pitchFamily="34" charset="0"/>
                <a:ea typeface="Cambria" pitchFamily="34" charset="-122"/>
                <a:cs typeface="Cambria" pitchFamily="34" charset="-120"/>
              </a:rPr>
              <a:t>80%</a:t>
            </a:r>
            <a:endParaRPr lang="en-US" sz="3800" dirty="0"/>
          </a:p>
        </p:txBody>
      </p:sp>
      <p:sp>
        <p:nvSpPr>
          <p:cNvPr id="6" name="Text 4"/>
          <p:cNvSpPr/>
          <p:nvPr/>
        </p:nvSpPr>
        <p:spPr>
          <a:xfrm>
            <a:off x="457200" y="1965960"/>
            <a:ext cx="2651760" cy="59436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of custom orders</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experienced margin erosion</a:t>
            </a:r>
            <a:endParaRPr lang="en-US" sz="1100" dirty="0"/>
          </a:p>
        </p:txBody>
      </p:sp>
      <p:sp>
        <p:nvSpPr>
          <p:cNvPr id="7" name="Shape 5"/>
          <p:cNvSpPr/>
          <p:nvPr/>
        </p:nvSpPr>
        <p:spPr>
          <a:xfrm>
            <a:off x="3355848" y="1234440"/>
            <a:ext cx="2651760" cy="1417320"/>
          </a:xfrm>
          <a:prstGeom prst="roundRect">
            <a:avLst>
              <a:gd name="adj" fmla="val 5161"/>
            </a:avLst>
          </a:prstGeom>
          <a:solidFill>
            <a:srgbClr val="FFF8F0"/>
          </a:solidFill>
          <a:ln w="19050">
            <a:solidFill>
              <a:srgbClr val="F6AD55"/>
            </a:solidFill>
            <a:prstDash val="solid"/>
          </a:ln>
        </p:spPr>
        <p:txBody>
          <a:bodyPr/>
          <a:lstStyle/>
          <a:p>
            <a:endParaRPr lang="en-GH"/>
          </a:p>
        </p:txBody>
      </p:sp>
      <p:sp>
        <p:nvSpPr>
          <p:cNvPr id="8" name="Text 6"/>
          <p:cNvSpPr/>
          <p:nvPr/>
        </p:nvSpPr>
        <p:spPr>
          <a:xfrm>
            <a:off x="3355848" y="1280160"/>
            <a:ext cx="2651760" cy="685800"/>
          </a:xfrm>
          <a:prstGeom prst="rect">
            <a:avLst/>
          </a:prstGeom>
          <a:noFill/>
          <a:ln/>
        </p:spPr>
        <p:txBody>
          <a:bodyPr wrap="square" rtlCol="0" anchor="ctr"/>
          <a:lstStyle/>
          <a:p>
            <a:pPr marL="0" indent="0" algn="ctr">
              <a:buNone/>
            </a:pPr>
            <a:r>
              <a:rPr lang="en-US" sz="3800" b="1" dirty="0">
                <a:solidFill>
                  <a:srgbClr val="1A202C"/>
                </a:solidFill>
                <a:latin typeface="Cambria" pitchFamily="34" charset="0"/>
                <a:ea typeface="Cambria" pitchFamily="34" charset="-122"/>
                <a:cs typeface="Cambria" pitchFamily="34" charset="-120"/>
              </a:rPr>
              <a:t>20+</a:t>
            </a:r>
            <a:endParaRPr lang="en-US" sz="3800" dirty="0"/>
          </a:p>
        </p:txBody>
      </p:sp>
      <p:sp>
        <p:nvSpPr>
          <p:cNvPr id="9" name="Text 7"/>
          <p:cNvSpPr/>
          <p:nvPr/>
        </p:nvSpPr>
        <p:spPr>
          <a:xfrm>
            <a:off x="3355848" y="1965960"/>
            <a:ext cx="2651760" cy="59436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years old, the age of</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AMG's core ERP system</a:t>
            </a:r>
            <a:endParaRPr lang="en-US" sz="1100" dirty="0"/>
          </a:p>
        </p:txBody>
      </p:sp>
      <p:sp>
        <p:nvSpPr>
          <p:cNvPr id="10" name="Shape 8"/>
          <p:cNvSpPr/>
          <p:nvPr/>
        </p:nvSpPr>
        <p:spPr>
          <a:xfrm>
            <a:off x="6254496" y="1234440"/>
            <a:ext cx="2651760" cy="1417320"/>
          </a:xfrm>
          <a:prstGeom prst="roundRect">
            <a:avLst>
              <a:gd name="adj" fmla="val 5161"/>
            </a:avLst>
          </a:prstGeom>
          <a:solidFill>
            <a:srgbClr val="F0FFF4"/>
          </a:solidFill>
          <a:ln w="19050">
            <a:solidFill>
              <a:srgbClr val="68D391"/>
            </a:solidFill>
            <a:prstDash val="solid"/>
          </a:ln>
        </p:spPr>
        <p:txBody>
          <a:bodyPr/>
          <a:lstStyle/>
          <a:p>
            <a:endParaRPr lang="en-GH"/>
          </a:p>
        </p:txBody>
      </p:sp>
      <p:sp>
        <p:nvSpPr>
          <p:cNvPr id="11" name="Text 9"/>
          <p:cNvSpPr/>
          <p:nvPr/>
        </p:nvSpPr>
        <p:spPr>
          <a:xfrm>
            <a:off x="6254496" y="1280160"/>
            <a:ext cx="2651760" cy="685800"/>
          </a:xfrm>
          <a:prstGeom prst="rect">
            <a:avLst/>
          </a:prstGeom>
          <a:noFill/>
          <a:ln/>
        </p:spPr>
        <p:txBody>
          <a:bodyPr wrap="square" rtlCol="0" anchor="ctr"/>
          <a:lstStyle/>
          <a:p>
            <a:pPr marL="0" indent="0" algn="ctr">
              <a:buNone/>
            </a:pPr>
            <a:r>
              <a:rPr lang="en-US" sz="3800" b="1" dirty="0">
                <a:solidFill>
                  <a:srgbClr val="1A202C"/>
                </a:solidFill>
                <a:latin typeface="Cambria" pitchFamily="34" charset="0"/>
                <a:ea typeface="Cambria" pitchFamily="34" charset="-122"/>
                <a:cs typeface="Cambria" pitchFamily="34" charset="-120"/>
              </a:rPr>
              <a:t>5</a:t>
            </a:r>
            <a:endParaRPr lang="en-US" sz="3800" dirty="0"/>
          </a:p>
        </p:txBody>
      </p:sp>
      <p:sp>
        <p:nvSpPr>
          <p:cNvPr id="12" name="Text 10"/>
          <p:cNvSpPr/>
          <p:nvPr/>
        </p:nvSpPr>
        <p:spPr>
          <a:xfrm>
            <a:off x="6254496" y="1965960"/>
            <a:ext cx="2651760" cy="59436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siloed systems with</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no real-time integration</a:t>
            </a:r>
            <a:endParaRPr lang="en-US" sz="1100" dirty="0"/>
          </a:p>
        </p:txBody>
      </p:sp>
      <p:sp>
        <p:nvSpPr>
          <p:cNvPr id="13" name="Text 11"/>
          <p:cNvSpPr/>
          <p:nvPr/>
        </p:nvSpPr>
        <p:spPr>
          <a:xfrm>
            <a:off x="457200" y="2834640"/>
            <a:ext cx="822960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What is causing this?</a:t>
            </a:r>
            <a:endParaRPr lang="en-US" sz="1300" dirty="0"/>
          </a:p>
        </p:txBody>
      </p:sp>
      <p:sp>
        <p:nvSpPr>
          <p:cNvPr id="14" name="Shape 12"/>
          <p:cNvSpPr/>
          <p:nvPr/>
        </p:nvSpPr>
        <p:spPr>
          <a:xfrm>
            <a:off x="457200" y="3310128"/>
            <a:ext cx="201168" cy="201168"/>
          </a:xfrm>
          <a:prstGeom prst="ellipse">
            <a:avLst/>
          </a:prstGeom>
          <a:solidFill>
            <a:srgbClr val="0D9488"/>
          </a:solidFill>
          <a:ln w="12700">
            <a:solidFill>
              <a:srgbClr val="0D9488"/>
            </a:solidFill>
            <a:prstDash val="solid"/>
          </a:ln>
        </p:spPr>
        <p:txBody>
          <a:bodyPr/>
          <a:lstStyle/>
          <a:p>
            <a:endParaRPr lang="en-GH"/>
          </a:p>
        </p:txBody>
      </p:sp>
      <p:sp>
        <p:nvSpPr>
          <p:cNvPr id="15" name="Text 13"/>
          <p:cNvSpPr/>
          <p:nvPr/>
        </p:nvSpPr>
        <p:spPr>
          <a:xfrm>
            <a:off x="777240" y="3273552"/>
            <a:ext cx="795528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The engineering and manufacturing systems share data only once a night through a connection that keeps breaking. When it fails, the factory builds the wrong thing.</a:t>
            </a:r>
            <a:endParaRPr lang="en-US" sz="1050" dirty="0"/>
          </a:p>
        </p:txBody>
      </p:sp>
      <p:sp>
        <p:nvSpPr>
          <p:cNvPr id="16" name="Shape 14"/>
          <p:cNvSpPr/>
          <p:nvPr/>
        </p:nvSpPr>
        <p:spPr>
          <a:xfrm>
            <a:off x="457200" y="3767328"/>
            <a:ext cx="201168" cy="201168"/>
          </a:xfrm>
          <a:prstGeom prst="ellipse">
            <a:avLst/>
          </a:prstGeom>
          <a:solidFill>
            <a:srgbClr val="0D9488"/>
          </a:solidFill>
          <a:ln w="12700">
            <a:solidFill>
              <a:srgbClr val="0D9488"/>
            </a:solidFill>
            <a:prstDash val="solid"/>
          </a:ln>
        </p:spPr>
        <p:txBody>
          <a:bodyPr/>
          <a:lstStyle/>
          <a:p>
            <a:endParaRPr lang="en-GH"/>
          </a:p>
        </p:txBody>
      </p:sp>
      <p:sp>
        <p:nvSpPr>
          <p:cNvPr id="17" name="Text 15"/>
          <p:cNvSpPr/>
          <p:nvPr/>
        </p:nvSpPr>
        <p:spPr>
          <a:xfrm>
            <a:off x="777240" y="3730752"/>
            <a:ext cx="795528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No one can see how much profit each order is making until after the work is done and it is too late to fix anything.</a:t>
            </a:r>
            <a:endParaRPr lang="en-US" sz="1050" dirty="0"/>
          </a:p>
        </p:txBody>
      </p:sp>
      <p:sp>
        <p:nvSpPr>
          <p:cNvPr id="18" name="Shape 16"/>
          <p:cNvSpPr/>
          <p:nvPr/>
        </p:nvSpPr>
        <p:spPr>
          <a:xfrm>
            <a:off x="457200" y="4224528"/>
            <a:ext cx="201168" cy="201168"/>
          </a:xfrm>
          <a:prstGeom prst="ellipse">
            <a:avLst/>
          </a:prstGeom>
          <a:solidFill>
            <a:srgbClr val="0D9488"/>
          </a:solidFill>
          <a:ln w="12700">
            <a:solidFill>
              <a:srgbClr val="0D9488"/>
            </a:solidFill>
            <a:prstDash val="solid"/>
          </a:ln>
        </p:spPr>
        <p:txBody>
          <a:bodyPr/>
          <a:lstStyle/>
          <a:p>
            <a:endParaRPr lang="en-GH"/>
          </a:p>
        </p:txBody>
      </p:sp>
      <p:sp>
        <p:nvSpPr>
          <p:cNvPr id="19" name="Text 17"/>
          <p:cNvSpPr/>
          <p:nvPr/>
        </p:nvSpPr>
        <p:spPr>
          <a:xfrm>
            <a:off x="777240" y="4187952"/>
            <a:ext cx="795528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Staff use Excel spreadsheets to fill the gaps between systems, creating errors and data that only one person controls.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OUR APPROACH</a:t>
            </a:r>
            <a:endParaRPr lang="en-US" sz="1100" dirty="0"/>
          </a:p>
        </p:txBody>
      </p:sp>
      <p:sp>
        <p:nvSpPr>
          <p:cNvPr id="3" name="Text 1"/>
          <p:cNvSpPr/>
          <p:nvPr/>
        </p:nvSpPr>
        <p:spPr>
          <a:xfrm>
            <a:off x="457200" y="566928"/>
            <a:ext cx="8229600" cy="502920"/>
          </a:xfrm>
          <a:prstGeom prst="rect">
            <a:avLst/>
          </a:prstGeom>
          <a:noFill/>
          <a:ln/>
        </p:spPr>
        <p:txBody>
          <a:bodyPr wrap="square" rtlCol="0" anchor="ctr"/>
          <a:lstStyle/>
          <a:p>
            <a:pPr marL="0" indent="0">
              <a:buNone/>
            </a:pPr>
            <a:r>
              <a:rPr lang="en-US" sz="2600" b="1" dirty="0">
                <a:solidFill>
                  <a:srgbClr val="1A202C"/>
                </a:solidFill>
                <a:latin typeface="Cambria" pitchFamily="34" charset="0"/>
                <a:ea typeface="Cambria" pitchFamily="34" charset="-122"/>
                <a:cs typeface="Cambria" pitchFamily="34" charset="-120"/>
              </a:rPr>
              <a:t>Four Objectives — In Order of Priority</a:t>
            </a:r>
            <a:endParaRPr lang="en-US" sz="2600" dirty="0"/>
          </a:p>
        </p:txBody>
      </p:sp>
      <p:sp>
        <p:nvSpPr>
          <p:cNvPr id="4" name="Text 2"/>
          <p:cNvSpPr/>
          <p:nvPr/>
        </p:nvSpPr>
        <p:spPr>
          <a:xfrm>
            <a:off x="457200" y="1143000"/>
            <a:ext cx="8229600" cy="27432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Every decision in this program is measured against these four goals:</a:t>
            </a:r>
            <a:endParaRPr lang="en-US" sz="1150" dirty="0"/>
          </a:p>
        </p:txBody>
      </p:sp>
      <p:sp>
        <p:nvSpPr>
          <p:cNvPr id="5" name="Shape 3"/>
          <p:cNvSpPr/>
          <p:nvPr/>
        </p:nvSpPr>
        <p:spPr>
          <a:xfrm>
            <a:off x="365760" y="1508760"/>
            <a:ext cx="4114800" cy="1325880"/>
          </a:xfrm>
          <a:prstGeom prst="roundRect">
            <a:avLst>
              <a:gd name="adj" fmla="val 5517"/>
            </a:avLst>
          </a:prstGeom>
          <a:solidFill>
            <a:srgbClr val="F0F4F8"/>
          </a:solidFill>
          <a:ln w="12700">
            <a:solidFill>
              <a:srgbClr val="CBD5E0"/>
            </a:solidFill>
            <a:prstDash val="solid"/>
          </a:ln>
        </p:spPr>
        <p:txBody>
          <a:bodyPr/>
          <a:lstStyle/>
          <a:p>
            <a:endParaRPr lang="en-GH"/>
          </a:p>
        </p:txBody>
      </p:sp>
      <p:sp>
        <p:nvSpPr>
          <p:cNvPr id="6" name="Text 4"/>
          <p:cNvSpPr/>
          <p:nvPr/>
        </p:nvSpPr>
        <p:spPr>
          <a:xfrm>
            <a:off x="502920" y="1600200"/>
            <a:ext cx="502920" cy="411480"/>
          </a:xfrm>
          <a:prstGeom prst="rect">
            <a:avLst/>
          </a:prstGeom>
          <a:noFill/>
          <a:ln/>
        </p:spPr>
        <p:txBody>
          <a:bodyPr wrap="square" rtlCol="0" anchor="ctr"/>
          <a:lstStyle/>
          <a:p>
            <a:pPr marL="0" indent="0">
              <a:buNone/>
            </a:pPr>
            <a:r>
              <a:rPr lang="en-US" sz="2200" b="1" dirty="0">
                <a:solidFill>
                  <a:srgbClr val="0D9488"/>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005840" y="1618488"/>
            <a:ext cx="329184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Fix the BOM Sync</a:t>
            </a:r>
            <a:endParaRPr lang="en-US" sz="1300" dirty="0"/>
          </a:p>
        </p:txBody>
      </p:sp>
      <p:sp>
        <p:nvSpPr>
          <p:cNvPr id="8" name="Text 6"/>
          <p:cNvSpPr/>
          <p:nvPr/>
        </p:nvSpPr>
        <p:spPr>
          <a:xfrm>
            <a:off x="502920" y="2011680"/>
            <a:ext cx="3840480" cy="71323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Replace the fragile nightly engineering-to-manufacturing connection with a real-time live integration. This is the most urgent fix. It is losing AMG money every single day.</a:t>
            </a:r>
            <a:endParaRPr lang="en-US" sz="1000" dirty="0"/>
          </a:p>
        </p:txBody>
      </p:sp>
      <p:sp>
        <p:nvSpPr>
          <p:cNvPr id="9" name="Shape 7"/>
          <p:cNvSpPr/>
          <p:nvPr/>
        </p:nvSpPr>
        <p:spPr>
          <a:xfrm>
            <a:off x="4754880" y="1508760"/>
            <a:ext cx="4114800" cy="1325880"/>
          </a:xfrm>
          <a:prstGeom prst="roundRect">
            <a:avLst>
              <a:gd name="adj" fmla="val 5517"/>
            </a:avLst>
          </a:prstGeom>
          <a:solidFill>
            <a:srgbClr val="F0F4F8"/>
          </a:solidFill>
          <a:ln w="12700">
            <a:solidFill>
              <a:srgbClr val="CBD5E0"/>
            </a:solidFill>
            <a:prstDash val="solid"/>
          </a:ln>
        </p:spPr>
        <p:txBody>
          <a:bodyPr/>
          <a:lstStyle/>
          <a:p>
            <a:endParaRPr lang="en-GH"/>
          </a:p>
        </p:txBody>
      </p:sp>
      <p:sp>
        <p:nvSpPr>
          <p:cNvPr id="10" name="Text 8"/>
          <p:cNvSpPr/>
          <p:nvPr/>
        </p:nvSpPr>
        <p:spPr>
          <a:xfrm>
            <a:off x="4892040" y="1600200"/>
            <a:ext cx="502920" cy="411480"/>
          </a:xfrm>
          <a:prstGeom prst="rect">
            <a:avLst/>
          </a:prstGeom>
          <a:noFill/>
          <a:ln/>
        </p:spPr>
        <p:txBody>
          <a:bodyPr wrap="square" rtlCol="0" anchor="ctr"/>
          <a:lstStyle/>
          <a:p>
            <a:pPr marL="0" indent="0">
              <a:buNone/>
            </a:pPr>
            <a:r>
              <a:rPr lang="en-US" sz="2200" b="1" dirty="0">
                <a:solidFill>
                  <a:srgbClr val="0D9488"/>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5394960" y="1618488"/>
            <a:ext cx="329184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One Source of Truth</a:t>
            </a:r>
            <a:endParaRPr lang="en-US" sz="1300" dirty="0"/>
          </a:p>
        </p:txBody>
      </p:sp>
      <p:sp>
        <p:nvSpPr>
          <p:cNvPr id="12" name="Text 10"/>
          <p:cNvSpPr/>
          <p:nvPr/>
        </p:nvSpPr>
        <p:spPr>
          <a:xfrm>
            <a:off x="4892040" y="2011680"/>
            <a:ext cx="3840480" cy="71323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Everyone across finance, engineering, and manufacturing sees the same data at the same time. No more conflicting spreadsheets, no more decisions based on outdated information.</a:t>
            </a:r>
            <a:endParaRPr lang="en-US" sz="1000" dirty="0"/>
          </a:p>
        </p:txBody>
      </p:sp>
      <p:sp>
        <p:nvSpPr>
          <p:cNvPr id="13" name="Shape 11"/>
          <p:cNvSpPr/>
          <p:nvPr/>
        </p:nvSpPr>
        <p:spPr>
          <a:xfrm>
            <a:off x="365760" y="3017520"/>
            <a:ext cx="4114800" cy="1325880"/>
          </a:xfrm>
          <a:prstGeom prst="roundRect">
            <a:avLst>
              <a:gd name="adj" fmla="val 5517"/>
            </a:avLst>
          </a:prstGeom>
          <a:solidFill>
            <a:srgbClr val="F0F4F8"/>
          </a:solidFill>
          <a:ln w="12700">
            <a:solidFill>
              <a:srgbClr val="CBD5E0"/>
            </a:solidFill>
            <a:prstDash val="solid"/>
          </a:ln>
        </p:spPr>
        <p:txBody>
          <a:bodyPr/>
          <a:lstStyle/>
          <a:p>
            <a:endParaRPr lang="en-GH"/>
          </a:p>
        </p:txBody>
      </p:sp>
      <p:sp>
        <p:nvSpPr>
          <p:cNvPr id="14" name="Text 12"/>
          <p:cNvSpPr/>
          <p:nvPr/>
        </p:nvSpPr>
        <p:spPr>
          <a:xfrm>
            <a:off x="502920" y="3108960"/>
            <a:ext cx="502920" cy="411480"/>
          </a:xfrm>
          <a:prstGeom prst="rect">
            <a:avLst/>
          </a:prstGeom>
          <a:noFill/>
          <a:ln/>
        </p:spPr>
        <p:txBody>
          <a:bodyPr wrap="square" rtlCol="0" anchor="ctr"/>
          <a:lstStyle/>
          <a:p>
            <a:pPr marL="0" indent="0">
              <a:buNone/>
            </a:pPr>
            <a:r>
              <a:rPr lang="en-US" sz="2200" b="1" dirty="0">
                <a:solidFill>
                  <a:srgbClr val="0D9488"/>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005840" y="3127248"/>
            <a:ext cx="329184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Controlled Retirement</a:t>
            </a:r>
            <a:endParaRPr lang="en-US" sz="1300" dirty="0"/>
          </a:p>
        </p:txBody>
      </p:sp>
      <p:sp>
        <p:nvSpPr>
          <p:cNvPr id="16" name="Text 14"/>
          <p:cNvSpPr/>
          <p:nvPr/>
        </p:nvSpPr>
        <p:spPr>
          <a:xfrm>
            <a:off x="502920" y="3520440"/>
            <a:ext cx="3840480" cy="71323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Switch off the old systems in a planned, step-by-step sequence, not all at once. Each system is only decommissioned after the new one has proven it can replace it.</a:t>
            </a:r>
            <a:endParaRPr lang="en-US" sz="1000" dirty="0"/>
          </a:p>
        </p:txBody>
      </p:sp>
      <p:sp>
        <p:nvSpPr>
          <p:cNvPr id="17" name="Shape 15"/>
          <p:cNvSpPr/>
          <p:nvPr/>
        </p:nvSpPr>
        <p:spPr>
          <a:xfrm>
            <a:off x="4754880" y="3017520"/>
            <a:ext cx="4114800" cy="1325880"/>
          </a:xfrm>
          <a:prstGeom prst="roundRect">
            <a:avLst>
              <a:gd name="adj" fmla="val 5517"/>
            </a:avLst>
          </a:prstGeom>
          <a:solidFill>
            <a:srgbClr val="F0F4F8"/>
          </a:solidFill>
          <a:ln w="12700">
            <a:solidFill>
              <a:srgbClr val="CBD5E0"/>
            </a:solidFill>
            <a:prstDash val="solid"/>
          </a:ln>
        </p:spPr>
        <p:txBody>
          <a:bodyPr/>
          <a:lstStyle/>
          <a:p>
            <a:endParaRPr lang="en-GH"/>
          </a:p>
        </p:txBody>
      </p:sp>
      <p:sp>
        <p:nvSpPr>
          <p:cNvPr id="18" name="Text 16"/>
          <p:cNvSpPr/>
          <p:nvPr/>
        </p:nvSpPr>
        <p:spPr>
          <a:xfrm>
            <a:off x="4892040" y="3108960"/>
            <a:ext cx="502920" cy="411480"/>
          </a:xfrm>
          <a:prstGeom prst="rect">
            <a:avLst/>
          </a:prstGeom>
          <a:noFill/>
          <a:ln/>
        </p:spPr>
        <p:txBody>
          <a:bodyPr wrap="square" rtlCol="0" anchor="ctr"/>
          <a:lstStyle/>
          <a:p>
            <a:pPr marL="0" indent="0">
              <a:buNone/>
            </a:pPr>
            <a:r>
              <a:rPr lang="en-US" sz="2200" b="1" dirty="0">
                <a:solidFill>
                  <a:srgbClr val="0D9488"/>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5394960" y="3127248"/>
            <a:ext cx="3291840" cy="320040"/>
          </a:xfrm>
          <a:prstGeom prst="rect">
            <a:avLst/>
          </a:prstGeom>
          <a:noFill/>
          <a:ln/>
        </p:spPr>
        <p:txBody>
          <a:bodyPr wrap="square"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Build Internal Capability</a:t>
            </a:r>
            <a:endParaRPr lang="en-US" sz="1300" dirty="0"/>
          </a:p>
        </p:txBody>
      </p:sp>
      <p:sp>
        <p:nvSpPr>
          <p:cNvPr id="20" name="Text 18"/>
          <p:cNvSpPr/>
          <p:nvPr/>
        </p:nvSpPr>
        <p:spPr>
          <a:xfrm>
            <a:off x="4892040" y="3520440"/>
            <a:ext cx="3840480" cy="71323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Train AMG's own staff to run the new platform. The goal is independence, not permanent reliance on external consultants.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PROGRAM PHASES</a:t>
            </a:r>
            <a:endParaRPr lang="en-US" sz="1100" dirty="0"/>
          </a:p>
        </p:txBody>
      </p:sp>
      <p:sp>
        <p:nvSpPr>
          <p:cNvPr id="3" name="Text 1"/>
          <p:cNvSpPr/>
          <p:nvPr/>
        </p:nvSpPr>
        <p:spPr>
          <a:xfrm>
            <a:off x="457200" y="530352"/>
            <a:ext cx="8229600" cy="457200"/>
          </a:xfrm>
          <a:prstGeom prst="rect">
            <a:avLst/>
          </a:prstGeom>
          <a:noFill/>
          <a:ln/>
        </p:spPr>
        <p:txBody>
          <a:bodyPr wrap="square" rtlCol="0" anchor="ctr"/>
          <a:lstStyle/>
          <a:p>
            <a:pPr marL="0" indent="0">
              <a:buNone/>
            </a:pPr>
            <a:r>
              <a:rPr lang="en-US" sz="2600" b="1" dirty="0">
                <a:solidFill>
                  <a:srgbClr val="1A202C"/>
                </a:solidFill>
                <a:latin typeface="Cambria" pitchFamily="34" charset="0"/>
                <a:ea typeface="Cambria" pitchFamily="34" charset="-122"/>
                <a:cs typeface="Cambria" pitchFamily="34" charset="-120"/>
              </a:rPr>
              <a:t>12-Month Delivery in Three Phases</a:t>
            </a:r>
            <a:endParaRPr lang="en-US" sz="2600" dirty="0"/>
          </a:p>
        </p:txBody>
      </p:sp>
      <p:sp>
        <p:nvSpPr>
          <p:cNvPr id="4" name="Shape 2"/>
          <p:cNvSpPr/>
          <p:nvPr/>
        </p:nvSpPr>
        <p:spPr>
          <a:xfrm>
            <a:off x="457200" y="1115568"/>
            <a:ext cx="8321040" cy="73152"/>
          </a:xfrm>
          <a:prstGeom prst="rect">
            <a:avLst/>
          </a:prstGeom>
          <a:solidFill>
            <a:srgbClr val="CBD5E0"/>
          </a:solidFill>
          <a:ln w="12700">
            <a:solidFill>
              <a:srgbClr val="CBD5E0"/>
            </a:solidFill>
            <a:prstDash val="solid"/>
          </a:ln>
        </p:spPr>
        <p:txBody>
          <a:bodyPr/>
          <a:lstStyle/>
          <a:p>
            <a:endParaRPr lang="en-GH"/>
          </a:p>
        </p:txBody>
      </p:sp>
      <p:sp>
        <p:nvSpPr>
          <p:cNvPr id="5" name="Shape 3"/>
          <p:cNvSpPr/>
          <p:nvPr/>
        </p:nvSpPr>
        <p:spPr>
          <a:xfrm>
            <a:off x="1454035" y="978408"/>
            <a:ext cx="347472" cy="347472"/>
          </a:xfrm>
          <a:prstGeom prst="ellipse">
            <a:avLst/>
          </a:prstGeom>
          <a:solidFill>
            <a:srgbClr val="4299E1"/>
          </a:solidFill>
          <a:ln w="12700">
            <a:solidFill>
              <a:srgbClr val="4299E1"/>
            </a:solidFill>
            <a:prstDash val="solid"/>
          </a:ln>
        </p:spPr>
        <p:txBody>
          <a:bodyPr/>
          <a:lstStyle/>
          <a:p>
            <a:endParaRPr lang="en-GH"/>
          </a:p>
        </p:txBody>
      </p:sp>
      <p:sp>
        <p:nvSpPr>
          <p:cNvPr id="6" name="Text 4"/>
          <p:cNvSpPr/>
          <p:nvPr/>
        </p:nvSpPr>
        <p:spPr>
          <a:xfrm>
            <a:off x="822959" y="969264"/>
            <a:ext cx="1608513"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4289503" y="963722"/>
            <a:ext cx="347472" cy="347472"/>
          </a:xfrm>
          <a:prstGeom prst="ellipse">
            <a:avLst/>
          </a:prstGeom>
          <a:solidFill>
            <a:srgbClr val="48BB78"/>
          </a:solidFill>
          <a:ln w="12700">
            <a:solidFill>
              <a:srgbClr val="48BB78"/>
            </a:solidFill>
            <a:prstDash val="solid"/>
          </a:ln>
        </p:spPr>
        <p:txBody>
          <a:bodyPr/>
          <a:lstStyle/>
          <a:p>
            <a:endParaRPr lang="en-GH"/>
          </a:p>
        </p:txBody>
      </p:sp>
      <p:sp>
        <p:nvSpPr>
          <p:cNvPr id="8" name="Text 6"/>
          <p:cNvSpPr/>
          <p:nvPr/>
        </p:nvSpPr>
        <p:spPr>
          <a:xfrm flipH="1">
            <a:off x="4287980" y="969264"/>
            <a:ext cx="348994"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Shape 7"/>
          <p:cNvSpPr/>
          <p:nvPr/>
        </p:nvSpPr>
        <p:spPr>
          <a:xfrm>
            <a:off x="7103363" y="959843"/>
            <a:ext cx="347472" cy="347472"/>
          </a:xfrm>
          <a:prstGeom prst="ellipse">
            <a:avLst/>
          </a:prstGeom>
          <a:solidFill>
            <a:srgbClr val="ED8936"/>
          </a:solidFill>
          <a:ln w="12700">
            <a:solidFill>
              <a:srgbClr val="ED8936"/>
            </a:solidFill>
            <a:prstDash val="solid"/>
          </a:ln>
        </p:spPr>
        <p:txBody>
          <a:bodyPr/>
          <a:lstStyle/>
          <a:p>
            <a:endParaRPr lang="en-GH"/>
          </a:p>
        </p:txBody>
      </p:sp>
      <p:sp>
        <p:nvSpPr>
          <p:cNvPr id="10" name="Text 8"/>
          <p:cNvSpPr/>
          <p:nvPr/>
        </p:nvSpPr>
        <p:spPr>
          <a:xfrm>
            <a:off x="7038109" y="969264"/>
            <a:ext cx="477981"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Shape 10"/>
          <p:cNvSpPr/>
          <p:nvPr/>
        </p:nvSpPr>
        <p:spPr>
          <a:xfrm>
            <a:off x="365760" y="1417320"/>
            <a:ext cx="2633472" cy="3337560"/>
          </a:xfrm>
          <a:prstGeom prst="roundRect">
            <a:avLst>
              <a:gd name="adj" fmla="val 3472"/>
            </a:avLst>
          </a:prstGeom>
          <a:solidFill>
            <a:srgbClr val="EBF8FF"/>
          </a:solidFill>
          <a:ln w="19050">
            <a:solidFill>
              <a:srgbClr val="4299E1"/>
            </a:solidFill>
            <a:prstDash val="solid"/>
          </a:ln>
        </p:spPr>
        <p:txBody>
          <a:bodyPr/>
          <a:lstStyle/>
          <a:p>
            <a:endParaRPr lang="en-GH"/>
          </a:p>
        </p:txBody>
      </p:sp>
      <p:sp>
        <p:nvSpPr>
          <p:cNvPr id="13" name="Text 11"/>
          <p:cNvSpPr/>
          <p:nvPr/>
        </p:nvSpPr>
        <p:spPr>
          <a:xfrm>
            <a:off x="365760" y="1508760"/>
            <a:ext cx="2633472" cy="347472"/>
          </a:xfrm>
          <a:prstGeom prst="rect">
            <a:avLst/>
          </a:prstGeom>
          <a:noFill/>
          <a:ln/>
        </p:spPr>
        <p:txBody>
          <a:bodyPr wrap="square" rtlCol="0" anchor="ctr"/>
          <a:lstStyle/>
          <a:p>
            <a:pPr marL="0" indent="0" algn="ctr">
              <a:buNone/>
            </a:pPr>
            <a:r>
              <a:rPr lang="en-US" sz="1400" b="1" dirty="0">
                <a:solidFill>
                  <a:srgbClr val="1A202C"/>
                </a:solidFill>
                <a:latin typeface="Calibri" pitchFamily="34" charset="0"/>
                <a:ea typeface="Calibri" pitchFamily="34" charset="-122"/>
                <a:cs typeface="Calibri" pitchFamily="34" charset="-120"/>
              </a:rPr>
              <a:t>Foundation</a:t>
            </a:r>
            <a:endParaRPr lang="en-US" sz="1400" dirty="0"/>
          </a:p>
        </p:txBody>
      </p:sp>
      <p:sp>
        <p:nvSpPr>
          <p:cNvPr id="14" name="Text 12"/>
          <p:cNvSpPr/>
          <p:nvPr/>
        </p:nvSpPr>
        <p:spPr>
          <a:xfrm>
            <a:off x="365760" y="1828800"/>
            <a:ext cx="2633472" cy="256032"/>
          </a:xfrm>
          <a:prstGeom prst="rect">
            <a:avLst/>
          </a:prstGeom>
          <a:noFill/>
          <a:ln/>
        </p:spPr>
        <p:txBody>
          <a:bodyPr wrap="square" rtlCol="0" anchor="ctr"/>
          <a:lstStyle/>
          <a:p>
            <a:pPr marL="0" indent="0" algn="ctr">
              <a:buNone/>
            </a:pPr>
            <a:r>
              <a:rPr lang="en-US" sz="1000" i="1" dirty="0">
                <a:solidFill>
                  <a:srgbClr val="4A5568"/>
                </a:solidFill>
                <a:latin typeface="Calibri" pitchFamily="34" charset="0"/>
                <a:ea typeface="Calibri" pitchFamily="34" charset="-122"/>
                <a:cs typeface="Calibri" pitchFamily="34" charset="-120"/>
              </a:rPr>
              <a:t>Months 1–3</a:t>
            </a:r>
            <a:endParaRPr lang="en-US" sz="1000" dirty="0"/>
          </a:p>
        </p:txBody>
      </p:sp>
      <p:sp>
        <p:nvSpPr>
          <p:cNvPr id="15" name="Text 13"/>
          <p:cNvSpPr/>
          <p:nvPr/>
        </p:nvSpPr>
        <p:spPr>
          <a:xfrm>
            <a:off x="502920" y="2148840"/>
            <a:ext cx="2331720" cy="2514600"/>
          </a:xfrm>
          <a:prstGeom prst="rect">
            <a:avLst/>
          </a:prstGeom>
          <a:noFill/>
          <a:ln/>
        </p:spPr>
        <p:txBody>
          <a:bodyPr wrap="square" rtlCol="0" anchor="ctr"/>
          <a:lstStyle/>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Purchase and contract the new ERP platform</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Define exact project scope and governance structure</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Begin cleaning and validating all BOM data</a:t>
            </a:r>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No legacy system switched off yet</a:t>
            </a:r>
            <a:endParaRPr lang="en-US" sz="1000" dirty="0"/>
          </a:p>
        </p:txBody>
      </p:sp>
      <p:sp>
        <p:nvSpPr>
          <p:cNvPr id="16" name="Shape 14"/>
          <p:cNvSpPr/>
          <p:nvPr/>
        </p:nvSpPr>
        <p:spPr>
          <a:xfrm>
            <a:off x="3200400" y="1417320"/>
            <a:ext cx="2633472" cy="3337560"/>
          </a:xfrm>
          <a:prstGeom prst="roundRect">
            <a:avLst>
              <a:gd name="adj" fmla="val 3472"/>
            </a:avLst>
          </a:prstGeom>
          <a:solidFill>
            <a:srgbClr val="F0FFF4"/>
          </a:solidFill>
          <a:ln w="19050">
            <a:solidFill>
              <a:srgbClr val="48BB78"/>
            </a:solidFill>
            <a:prstDash val="solid"/>
          </a:ln>
        </p:spPr>
        <p:txBody>
          <a:bodyPr/>
          <a:lstStyle/>
          <a:p>
            <a:endParaRPr lang="en-GH"/>
          </a:p>
        </p:txBody>
      </p:sp>
      <p:sp>
        <p:nvSpPr>
          <p:cNvPr id="17" name="Text 15"/>
          <p:cNvSpPr/>
          <p:nvPr/>
        </p:nvSpPr>
        <p:spPr>
          <a:xfrm>
            <a:off x="3200400" y="1508760"/>
            <a:ext cx="2633472" cy="347472"/>
          </a:xfrm>
          <a:prstGeom prst="rect">
            <a:avLst/>
          </a:prstGeom>
          <a:noFill/>
          <a:ln/>
        </p:spPr>
        <p:txBody>
          <a:bodyPr wrap="square" rtlCol="0" anchor="ctr"/>
          <a:lstStyle/>
          <a:p>
            <a:pPr marL="0" indent="0" algn="ctr">
              <a:buNone/>
            </a:pPr>
            <a:r>
              <a:rPr lang="en-US" sz="1400" b="1" dirty="0">
                <a:solidFill>
                  <a:srgbClr val="1A202C"/>
                </a:solidFill>
                <a:latin typeface="Calibri" pitchFamily="34" charset="0"/>
                <a:ea typeface="Calibri" pitchFamily="34" charset="-122"/>
                <a:cs typeface="Calibri" pitchFamily="34" charset="-120"/>
              </a:rPr>
              <a:t>Configure &amp; Migrate</a:t>
            </a:r>
            <a:endParaRPr lang="en-US" sz="1400" dirty="0"/>
          </a:p>
        </p:txBody>
      </p:sp>
      <p:sp>
        <p:nvSpPr>
          <p:cNvPr id="18" name="Text 16"/>
          <p:cNvSpPr/>
          <p:nvPr/>
        </p:nvSpPr>
        <p:spPr>
          <a:xfrm>
            <a:off x="3200400" y="1828800"/>
            <a:ext cx="2633472" cy="256032"/>
          </a:xfrm>
          <a:prstGeom prst="rect">
            <a:avLst/>
          </a:prstGeom>
          <a:noFill/>
          <a:ln/>
        </p:spPr>
        <p:txBody>
          <a:bodyPr wrap="square" rtlCol="0" anchor="ctr"/>
          <a:lstStyle/>
          <a:p>
            <a:pPr marL="0" indent="0" algn="ctr">
              <a:buNone/>
            </a:pPr>
            <a:r>
              <a:rPr lang="en-US" sz="1000" i="1" dirty="0">
                <a:solidFill>
                  <a:srgbClr val="4A5568"/>
                </a:solidFill>
                <a:latin typeface="Calibri" pitchFamily="34" charset="0"/>
                <a:ea typeface="Calibri" pitchFamily="34" charset="-122"/>
                <a:cs typeface="Calibri" pitchFamily="34" charset="-120"/>
              </a:rPr>
              <a:t>Months 4–9</a:t>
            </a:r>
            <a:endParaRPr lang="en-US" sz="1000" dirty="0"/>
          </a:p>
        </p:txBody>
      </p:sp>
      <p:sp>
        <p:nvSpPr>
          <p:cNvPr id="19" name="Text 17"/>
          <p:cNvSpPr/>
          <p:nvPr/>
        </p:nvSpPr>
        <p:spPr>
          <a:xfrm>
            <a:off x="3337560" y="2148840"/>
            <a:ext cx="2331720" cy="2514600"/>
          </a:xfrm>
          <a:prstGeom prst="rect">
            <a:avLst/>
          </a:prstGeom>
          <a:noFill/>
          <a:ln/>
        </p:spPr>
        <p:txBody>
          <a:bodyPr wrap="square" rtlCol="0" anchor="ctr"/>
          <a:lstStyle/>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Set up and configure the new ERP to match AMG's processes</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Run both old and new systems simultaneously (parallel operations)</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Migrate all active orders, live inventory, and open transactions</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Connect the engineering system to the new ERP in real-time</a:t>
            </a:r>
            <a:endParaRPr lang="en-US" sz="1000" dirty="0"/>
          </a:p>
        </p:txBody>
      </p:sp>
      <p:sp>
        <p:nvSpPr>
          <p:cNvPr id="20" name="Shape 18"/>
          <p:cNvSpPr/>
          <p:nvPr/>
        </p:nvSpPr>
        <p:spPr>
          <a:xfrm>
            <a:off x="6035040" y="1417320"/>
            <a:ext cx="2633472" cy="3337560"/>
          </a:xfrm>
          <a:prstGeom prst="roundRect">
            <a:avLst>
              <a:gd name="adj" fmla="val 3472"/>
            </a:avLst>
          </a:prstGeom>
          <a:solidFill>
            <a:srgbClr val="FFFAF0"/>
          </a:solidFill>
          <a:ln w="19050">
            <a:solidFill>
              <a:srgbClr val="ED8936"/>
            </a:solidFill>
            <a:prstDash val="solid"/>
          </a:ln>
        </p:spPr>
        <p:txBody>
          <a:bodyPr/>
          <a:lstStyle/>
          <a:p>
            <a:endParaRPr lang="en-GH"/>
          </a:p>
        </p:txBody>
      </p:sp>
      <p:sp>
        <p:nvSpPr>
          <p:cNvPr id="21" name="Text 19"/>
          <p:cNvSpPr/>
          <p:nvPr/>
        </p:nvSpPr>
        <p:spPr>
          <a:xfrm>
            <a:off x="6035040" y="1508760"/>
            <a:ext cx="2633472" cy="347472"/>
          </a:xfrm>
          <a:prstGeom prst="rect">
            <a:avLst/>
          </a:prstGeom>
          <a:noFill/>
          <a:ln/>
        </p:spPr>
        <p:txBody>
          <a:bodyPr wrap="square" rtlCol="0" anchor="ctr"/>
          <a:lstStyle/>
          <a:p>
            <a:pPr marL="0" indent="0" algn="ctr">
              <a:buNone/>
            </a:pPr>
            <a:r>
              <a:rPr lang="en-US" sz="1400" b="1" dirty="0">
                <a:solidFill>
                  <a:srgbClr val="1A202C"/>
                </a:solidFill>
                <a:latin typeface="Calibri" pitchFamily="34" charset="0"/>
                <a:ea typeface="Calibri" pitchFamily="34" charset="-122"/>
                <a:cs typeface="Calibri" pitchFamily="34" charset="-120"/>
              </a:rPr>
              <a:t>Go-Live &amp; Stabilise</a:t>
            </a:r>
            <a:endParaRPr lang="en-US" sz="1400" dirty="0"/>
          </a:p>
        </p:txBody>
      </p:sp>
      <p:sp>
        <p:nvSpPr>
          <p:cNvPr id="22" name="Text 20"/>
          <p:cNvSpPr/>
          <p:nvPr/>
        </p:nvSpPr>
        <p:spPr>
          <a:xfrm>
            <a:off x="6035040" y="1828800"/>
            <a:ext cx="2633472" cy="256032"/>
          </a:xfrm>
          <a:prstGeom prst="rect">
            <a:avLst/>
          </a:prstGeom>
          <a:noFill/>
          <a:ln/>
        </p:spPr>
        <p:txBody>
          <a:bodyPr wrap="square" rtlCol="0" anchor="ctr"/>
          <a:lstStyle/>
          <a:p>
            <a:pPr marL="0" indent="0" algn="ctr">
              <a:buNone/>
            </a:pPr>
            <a:r>
              <a:rPr lang="en-US" sz="1000" i="1" dirty="0">
                <a:solidFill>
                  <a:srgbClr val="4A5568"/>
                </a:solidFill>
                <a:latin typeface="Calibri" pitchFamily="34" charset="0"/>
                <a:ea typeface="Calibri" pitchFamily="34" charset="-122"/>
                <a:cs typeface="Calibri" pitchFamily="34" charset="-120"/>
              </a:rPr>
              <a:t>Months 10–12</a:t>
            </a:r>
            <a:endParaRPr lang="en-US" sz="1000" dirty="0"/>
          </a:p>
        </p:txBody>
      </p:sp>
      <p:sp>
        <p:nvSpPr>
          <p:cNvPr id="23" name="Text 21"/>
          <p:cNvSpPr/>
          <p:nvPr/>
        </p:nvSpPr>
        <p:spPr>
          <a:xfrm>
            <a:off x="6172200" y="2148840"/>
            <a:ext cx="2331720" cy="2514600"/>
          </a:xfrm>
          <a:prstGeom prst="rect">
            <a:avLst/>
          </a:prstGeom>
          <a:noFill/>
          <a:ln/>
        </p:spPr>
        <p:txBody>
          <a:bodyPr wrap="square" rtlCol="0" anchor="ctr"/>
          <a:lstStyle/>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Cut over to the new system only when data is verified</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Switch off old systems in a planned sequence</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Keep extra technical support on standby for 30 days (hypercare)</a:t>
            </a:r>
            <a:endParaRPr lang="en-US" sz="1000" dirty="0"/>
          </a:p>
          <a:p>
            <a:pPr marL="342900" indent="-342900">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Hand full control over to AMG's internal team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RISK MANAGEMENT</a:t>
            </a:r>
            <a:endParaRPr lang="en-US" sz="1100" dirty="0"/>
          </a:p>
        </p:txBody>
      </p:sp>
      <p:sp>
        <p:nvSpPr>
          <p:cNvPr id="3" name="Text 1"/>
          <p:cNvSpPr/>
          <p:nvPr/>
        </p:nvSpPr>
        <p:spPr>
          <a:xfrm>
            <a:off x="457200" y="566928"/>
            <a:ext cx="8229600" cy="457200"/>
          </a:xfrm>
          <a:prstGeom prst="rect">
            <a:avLst/>
          </a:prstGeom>
          <a:noFill/>
          <a:ln/>
        </p:spPr>
        <p:txBody>
          <a:bodyPr wrap="square" rtlCol="0" anchor="ctr"/>
          <a:lstStyle/>
          <a:p>
            <a:pPr marL="0" indent="0">
              <a:buNone/>
            </a:pPr>
            <a:r>
              <a:rPr lang="en-US" sz="2600" b="1" dirty="0">
                <a:solidFill>
                  <a:srgbClr val="1A202C"/>
                </a:solidFill>
                <a:latin typeface="Cambria" pitchFamily="34" charset="0"/>
                <a:ea typeface="Cambria" pitchFamily="34" charset="-122"/>
                <a:cs typeface="Cambria" pitchFamily="34" charset="-120"/>
              </a:rPr>
              <a:t>Top 4 Risks and How We Manage Them</a:t>
            </a:r>
            <a:endParaRPr lang="en-US" sz="2600" dirty="0"/>
          </a:p>
        </p:txBody>
      </p:sp>
      <p:sp>
        <p:nvSpPr>
          <p:cNvPr id="4" name="Shape 2"/>
          <p:cNvSpPr/>
          <p:nvPr/>
        </p:nvSpPr>
        <p:spPr>
          <a:xfrm>
            <a:off x="365760" y="1170432"/>
            <a:ext cx="8412480" cy="804672"/>
          </a:xfrm>
          <a:prstGeom prst="roundRect">
            <a:avLst>
              <a:gd name="adj" fmla="val 6818"/>
            </a:avLst>
          </a:prstGeom>
          <a:solidFill>
            <a:srgbClr val="FFF5F5"/>
          </a:solidFill>
          <a:ln w="12700">
            <a:solidFill>
              <a:srgbClr val="FC8181"/>
            </a:solidFill>
            <a:prstDash val="solid"/>
          </a:ln>
        </p:spPr>
        <p:txBody>
          <a:bodyPr/>
          <a:lstStyle/>
          <a:p>
            <a:endParaRPr lang="en-GH"/>
          </a:p>
        </p:txBody>
      </p:sp>
      <p:sp>
        <p:nvSpPr>
          <p:cNvPr id="5" name="Text 3"/>
          <p:cNvSpPr/>
          <p:nvPr/>
        </p:nvSpPr>
        <p:spPr>
          <a:xfrm>
            <a:off x="548640" y="1234440"/>
            <a:ext cx="1737360" cy="274320"/>
          </a:xfrm>
          <a:prstGeom prst="rect">
            <a:avLst/>
          </a:prstGeom>
          <a:noFill/>
          <a:ln/>
        </p:spPr>
        <p:txBody>
          <a:bodyPr wrap="square"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BOM Data Quality</a:t>
            </a:r>
            <a:endParaRPr lang="en-US" sz="1150" dirty="0"/>
          </a:p>
        </p:txBody>
      </p:sp>
      <p:sp>
        <p:nvSpPr>
          <p:cNvPr id="6" name="Shape 4"/>
          <p:cNvSpPr/>
          <p:nvPr/>
        </p:nvSpPr>
        <p:spPr>
          <a:xfrm>
            <a:off x="548640" y="1554480"/>
            <a:ext cx="548640" cy="219456"/>
          </a:xfrm>
          <a:prstGeom prst="roundRect">
            <a:avLst>
              <a:gd name="adj" fmla="val 16667"/>
            </a:avLst>
          </a:prstGeom>
          <a:solidFill>
            <a:srgbClr val="FC8181"/>
          </a:solidFill>
          <a:ln w="12700">
            <a:solidFill>
              <a:srgbClr val="FC8181"/>
            </a:solidFill>
            <a:prstDash val="solid"/>
          </a:ln>
        </p:spPr>
        <p:txBody>
          <a:bodyPr/>
          <a:lstStyle/>
          <a:p>
            <a:endParaRPr lang="en-GH"/>
          </a:p>
        </p:txBody>
      </p:sp>
      <p:sp>
        <p:nvSpPr>
          <p:cNvPr id="7" name="Text 5"/>
          <p:cNvSpPr/>
          <p:nvPr/>
        </p:nvSpPr>
        <p:spPr>
          <a:xfrm>
            <a:off x="548640" y="1554480"/>
            <a:ext cx="548640" cy="219456"/>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8" name="Text 6"/>
          <p:cNvSpPr/>
          <p:nvPr/>
        </p:nvSpPr>
        <p:spPr>
          <a:xfrm>
            <a:off x="2514600" y="1225296"/>
            <a:ext cx="28346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If we migrate inaccurate product data into the new system, we reproduce the same manufacturing problems we are trying to solve.</a:t>
            </a:r>
            <a:endParaRPr lang="en-US" sz="1000" dirty="0"/>
          </a:p>
        </p:txBody>
      </p:sp>
      <p:sp>
        <p:nvSpPr>
          <p:cNvPr id="9" name="Shape 7"/>
          <p:cNvSpPr/>
          <p:nvPr/>
        </p:nvSpPr>
        <p:spPr>
          <a:xfrm>
            <a:off x="5440680" y="1261872"/>
            <a:ext cx="0" cy="621792"/>
          </a:xfrm>
          <a:prstGeom prst="line">
            <a:avLst/>
          </a:prstGeom>
          <a:noFill/>
          <a:ln w="12700">
            <a:solidFill>
              <a:srgbClr val="CBD5E0"/>
            </a:solidFill>
            <a:prstDash val="solid"/>
          </a:ln>
        </p:spPr>
        <p:txBody>
          <a:bodyPr/>
          <a:lstStyle/>
          <a:p>
            <a:endParaRPr lang="en-GH"/>
          </a:p>
        </p:txBody>
      </p:sp>
      <p:sp>
        <p:nvSpPr>
          <p:cNvPr id="10" name="Text 8"/>
          <p:cNvSpPr/>
          <p:nvPr/>
        </p:nvSpPr>
        <p:spPr>
          <a:xfrm>
            <a:off x="5577840" y="1225296"/>
            <a:ext cx="30632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Mitigation: Dedicate a full data cleansing workstream in Phase 1. Every BOM record is validated before migration begins. Bad data does not move forward.</a:t>
            </a:r>
            <a:endParaRPr lang="en-US" sz="1000" dirty="0"/>
          </a:p>
        </p:txBody>
      </p:sp>
      <p:sp>
        <p:nvSpPr>
          <p:cNvPr id="11" name="Shape 9"/>
          <p:cNvSpPr/>
          <p:nvPr/>
        </p:nvSpPr>
        <p:spPr>
          <a:xfrm>
            <a:off x="365760" y="2084832"/>
            <a:ext cx="8412480" cy="804672"/>
          </a:xfrm>
          <a:prstGeom prst="roundRect">
            <a:avLst>
              <a:gd name="adj" fmla="val 6818"/>
            </a:avLst>
          </a:prstGeom>
          <a:solidFill>
            <a:srgbClr val="FFF5F5"/>
          </a:solidFill>
          <a:ln w="12700">
            <a:solidFill>
              <a:srgbClr val="FC8181"/>
            </a:solidFill>
            <a:prstDash val="solid"/>
          </a:ln>
        </p:spPr>
        <p:txBody>
          <a:bodyPr/>
          <a:lstStyle/>
          <a:p>
            <a:endParaRPr lang="en-GH"/>
          </a:p>
        </p:txBody>
      </p:sp>
      <p:sp>
        <p:nvSpPr>
          <p:cNvPr id="12" name="Text 10"/>
          <p:cNvSpPr/>
          <p:nvPr/>
        </p:nvSpPr>
        <p:spPr>
          <a:xfrm>
            <a:off x="548640" y="2148840"/>
            <a:ext cx="1737360" cy="274320"/>
          </a:xfrm>
          <a:prstGeom prst="rect">
            <a:avLst/>
          </a:prstGeom>
          <a:noFill/>
          <a:ln/>
        </p:spPr>
        <p:txBody>
          <a:bodyPr wrap="square"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Scope Creep</a:t>
            </a:r>
            <a:endParaRPr lang="en-US" sz="1150" dirty="0"/>
          </a:p>
        </p:txBody>
      </p:sp>
      <p:sp>
        <p:nvSpPr>
          <p:cNvPr id="13" name="Shape 11"/>
          <p:cNvSpPr/>
          <p:nvPr/>
        </p:nvSpPr>
        <p:spPr>
          <a:xfrm>
            <a:off x="548640" y="2468880"/>
            <a:ext cx="548640" cy="219456"/>
          </a:xfrm>
          <a:prstGeom prst="roundRect">
            <a:avLst>
              <a:gd name="adj" fmla="val 16667"/>
            </a:avLst>
          </a:prstGeom>
          <a:solidFill>
            <a:srgbClr val="FC8181"/>
          </a:solidFill>
          <a:ln w="12700">
            <a:solidFill>
              <a:srgbClr val="FC8181"/>
            </a:solidFill>
            <a:prstDash val="solid"/>
          </a:ln>
        </p:spPr>
        <p:txBody>
          <a:bodyPr/>
          <a:lstStyle/>
          <a:p>
            <a:endParaRPr lang="en-GH"/>
          </a:p>
        </p:txBody>
      </p:sp>
      <p:sp>
        <p:nvSpPr>
          <p:cNvPr id="14" name="Text 12"/>
          <p:cNvSpPr/>
          <p:nvPr/>
        </p:nvSpPr>
        <p:spPr>
          <a:xfrm>
            <a:off x="548640" y="2468880"/>
            <a:ext cx="548640" cy="219456"/>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5" name="Text 13"/>
          <p:cNvSpPr/>
          <p:nvPr/>
        </p:nvSpPr>
        <p:spPr>
          <a:xfrm>
            <a:off x="2514600" y="2139696"/>
            <a:ext cx="28346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People keep adding new requirements after the project starts. Each addition seems small but together they push the deadline out and inflate costs.</a:t>
            </a:r>
            <a:endParaRPr lang="en-US" sz="1000" dirty="0"/>
          </a:p>
        </p:txBody>
      </p:sp>
      <p:sp>
        <p:nvSpPr>
          <p:cNvPr id="16" name="Shape 14"/>
          <p:cNvSpPr/>
          <p:nvPr/>
        </p:nvSpPr>
        <p:spPr>
          <a:xfrm>
            <a:off x="5440680" y="2176272"/>
            <a:ext cx="0" cy="621792"/>
          </a:xfrm>
          <a:prstGeom prst="line">
            <a:avLst/>
          </a:prstGeom>
          <a:noFill/>
          <a:ln w="12700">
            <a:solidFill>
              <a:srgbClr val="CBD5E0"/>
            </a:solidFill>
            <a:prstDash val="solid"/>
          </a:ln>
        </p:spPr>
        <p:txBody>
          <a:bodyPr/>
          <a:lstStyle/>
          <a:p>
            <a:endParaRPr lang="en-GH"/>
          </a:p>
        </p:txBody>
      </p:sp>
      <p:sp>
        <p:nvSpPr>
          <p:cNvPr id="17" name="Text 15"/>
          <p:cNvSpPr/>
          <p:nvPr/>
        </p:nvSpPr>
        <p:spPr>
          <a:xfrm>
            <a:off x="5577840" y="2139696"/>
            <a:ext cx="30632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Mitigation: Formal change control process from day one. Any new requirement must be submitted, evaluated, and approved by the executive team before it is added.</a:t>
            </a:r>
            <a:endParaRPr lang="en-US" sz="1000" dirty="0"/>
          </a:p>
        </p:txBody>
      </p:sp>
      <p:sp>
        <p:nvSpPr>
          <p:cNvPr id="18" name="Shape 16"/>
          <p:cNvSpPr/>
          <p:nvPr/>
        </p:nvSpPr>
        <p:spPr>
          <a:xfrm>
            <a:off x="365760" y="2999232"/>
            <a:ext cx="8412480" cy="804672"/>
          </a:xfrm>
          <a:prstGeom prst="roundRect">
            <a:avLst>
              <a:gd name="adj" fmla="val 6818"/>
            </a:avLst>
          </a:prstGeom>
          <a:solidFill>
            <a:srgbClr val="FFFAF0"/>
          </a:solidFill>
          <a:ln w="12700">
            <a:solidFill>
              <a:srgbClr val="F6AD55"/>
            </a:solidFill>
            <a:prstDash val="solid"/>
          </a:ln>
        </p:spPr>
        <p:txBody>
          <a:bodyPr/>
          <a:lstStyle/>
          <a:p>
            <a:endParaRPr lang="en-GH"/>
          </a:p>
        </p:txBody>
      </p:sp>
      <p:sp>
        <p:nvSpPr>
          <p:cNvPr id="19" name="Text 17"/>
          <p:cNvSpPr/>
          <p:nvPr/>
        </p:nvSpPr>
        <p:spPr>
          <a:xfrm>
            <a:off x="548640" y="3063240"/>
            <a:ext cx="1737360" cy="274320"/>
          </a:xfrm>
          <a:prstGeom prst="rect">
            <a:avLst/>
          </a:prstGeom>
          <a:noFill/>
          <a:ln/>
        </p:spPr>
        <p:txBody>
          <a:bodyPr wrap="square"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Cutover Disruption</a:t>
            </a:r>
            <a:endParaRPr lang="en-US" sz="1150" dirty="0"/>
          </a:p>
        </p:txBody>
      </p:sp>
      <p:sp>
        <p:nvSpPr>
          <p:cNvPr id="20" name="Shape 18"/>
          <p:cNvSpPr/>
          <p:nvPr/>
        </p:nvSpPr>
        <p:spPr>
          <a:xfrm>
            <a:off x="548640" y="3383280"/>
            <a:ext cx="548640" cy="219456"/>
          </a:xfrm>
          <a:prstGeom prst="roundRect">
            <a:avLst>
              <a:gd name="adj" fmla="val 16667"/>
            </a:avLst>
          </a:prstGeom>
          <a:solidFill>
            <a:srgbClr val="F6AD55"/>
          </a:solidFill>
          <a:ln w="12700">
            <a:solidFill>
              <a:srgbClr val="F6AD55"/>
            </a:solidFill>
            <a:prstDash val="solid"/>
          </a:ln>
        </p:spPr>
        <p:txBody>
          <a:bodyPr/>
          <a:lstStyle/>
          <a:p>
            <a:endParaRPr lang="en-GH"/>
          </a:p>
        </p:txBody>
      </p:sp>
      <p:sp>
        <p:nvSpPr>
          <p:cNvPr id="21" name="Text 19"/>
          <p:cNvSpPr/>
          <p:nvPr/>
        </p:nvSpPr>
        <p:spPr>
          <a:xfrm>
            <a:off x="548640" y="3383280"/>
            <a:ext cx="548640" cy="219456"/>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a:t>
            </a:r>
            <a:endParaRPr lang="en-US" sz="800" dirty="0"/>
          </a:p>
        </p:txBody>
      </p:sp>
      <p:sp>
        <p:nvSpPr>
          <p:cNvPr id="22" name="Text 20"/>
          <p:cNvSpPr/>
          <p:nvPr/>
        </p:nvSpPr>
        <p:spPr>
          <a:xfrm>
            <a:off x="2514600" y="3054096"/>
            <a:ext cx="28346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Switching systems while active customer orders are in progress risks errors on work already underway.</a:t>
            </a:r>
            <a:endParaRPr lang="en-US" sz="1000" dirty="0"/>
          </a:p>
        </p:txBody>
      </p:sp>
      <p:sp>
        <p:nvSpPr>
          <p:cNvPr id="23" name="Shape 21"/>
          <p:cNvSpPr/>
          <p:nvPr/>
        </p:nvSpPr>
        <p:spPr>
          <a:xfrm>
            <a:off x="5440680" y="3090672"/>
            <a:ext cx="0" cy="621792"/>
          </a:xfrm>
          <a:prstGeom prst="line">
            <a:avLst/>
          </a:prstGeom>
          <a:noFill/>
          <a:ln w="12700">
            <a:solidFill>
              <a:srgbClr val="CBD5E0"/>
            </a:solidFill>
            <a:prstDash val="solid"/>
          </a:ln>
        </p:spPr>
        <p:txBody>
          <a:bodyPr/>
          <a:lstStyle/>
          <a:p>
            <a:endParaRPr lang="en-GH"/>
          </a:p>
        </p:txBody>
      </p:sp>
      <p:sp>
        <p:nvSpPr>
          <p:cNvPr id="24" name="Text 22"/>
          <p:cNvSpPr/>
          <p:nvPr/>
        </p:nvSpPr>
        <p:spPr>
          <a:xfrm>
            <a:off x="5577840" y="3054096"/>
            <a:ext cx="30632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Mitigation: Plan go-live during AMG's lowest-volume period. Run parallel operations for at least 4 weeks before fully switching off the old system.</a:t>
            </a:r>
            <a:endParaRPr lang="en-US" sz="1000" dirty="0"/>
          </a:p>
        </p:txBody>
      </p:sp>
      <p:sp>
        <p:nvSpPr>
          <p:cNvPr id="25" name="Shape 23"/>
          <p:cNvSpPr/>
          <p:nvPr/>
        </p:nvSpPr>
        <p:spPr>
          <a:xfrm>
            <a:off x="365760" y="3913632"/>
            <a:ext cx="8412480" cy="804672"/>
          </a:xfrm>
          <a:prstGeom prst="roundRect">
            <a:avLst>
              <a:gd name="adj" fmla="val 6818"/>
            </a:avLst>
          </a:prstGeom>
          <a:solidFill>
            <a:srgbClr val="FFFAF0"/>
          </a:solidFill>
          <a:ln w="12700">
            <a:solidFill>
              <a:srgbClr val="F6AD55"/>
            </a:solidFill>
            <a:prstDash val="solid"/>
          </a:ln>
        </p:spPr>
        <p:txBody>
          <a:bodyPr/>
          <a:lstStyle/>
          <a:p>
            <a:endParaRPr lang="en-GH"/>
          </a:p>
        </p:txBody>
      </p:sp>
      <p:sp>
        <p:nvSpPr>
          <p:cNvPr id="26" name="Text 24"/>
          <p:cNvSpPr/>
          <p:nvPr/>
        </p:nvSpPr>
        <p:spPr>
          <a:xfrm>
            <a:off x="548640" y="3977640"/>
            <a:ext cx="1737360" cy="274320"/>
          </a:xfrm>
          <a:prstGeom prst="rect">
            <a:avLst/>
          </a:prstGeom>
          <a:noFill/>
          <a:ln/>
        </p:spPr>
        <p:txBody>
          <a:bodyPr wrap="square" rtlCol="0" anchor="ctr"/>
          <a:lstStyle/>
          <a:p>
            <a:pPr marL="0" indent="0">
              <a:buNone/>
            </a:pPr>
            <a:r>
              <a:rPr lang="en-US" sz="1150" b="1" dirty="0">
                <a:solidFill>
                  <a:srgbClr val="1A202C"/>
                </a:solidFill>
                <a:latin typeface="Calibri" pitchFamily="34" charset="0"/>
                <a:ea typeface="Calibri" pitchFamily="34" charset="-122"/>
                <a:cs typeface="Calibri" pitchFamily="34" charset="-120"/>
              </a:rPr>
              <a:t>User Adoption</a:t>
            </a:r>
            <a:endParaRPr lang="en-US" sz="1150" dirty="0"/>
          </a:p>
        </p:txBody>
      </p:sp>
      <p:sp>
        <p:nvSpPr>
          <p:cNvPr id="27" name="Shape 25"/>
          <p:cNvSpPr/>
          <p:nvPr/>
        </p:nvSpPr>
        <p:spPr>
          <a:xfrm>
            <a:off x="548640" y="4297680"/>
            <a:ext cx="548640" cy="219456"/>
          </a:xfrm>
          <a:prstGeom prst="roundRect">
            <a:avLst>
              <a:gd name="adj" fmla="val 16667"/>
            </a:avLst>
          </a:prstGeom>
          <a:solidFill>
            <a:srgbClr val="F6AD55"/>
          </a:solidFill>
          <a:ln w="12700">
            <a:solidFill>
              <a:srgbClr val="F6AD55"/>
            </a:solidFill>
            <a:prstDash val="solid"/>
          </a:ln>
        </p:spPr>
        <p:txBody>
          <a:bodyPr/>
          <a:lstStyle/>
          <a:p>
            <a:endParaRPr lang="en-GH"/>
          </a:p>
        </p:txBody>
      </p:sp>
      <p:sp>
        <p:nvSpPr>
          <p:cNvPr id="28" name="Text 26"/>
          <p:cNvSpPr/>
          <p:nvPr/>
        </p:nvSpPr>
        <p:spPr>
          <a:xfrm>
            <a:off x="548640" y="4297680"/>
            <a:ext cx="548640" cy="219456"/>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a:t>
            </a:r>
            <a:endParaRPr lang="en-US" sz="800" dirty="0"/>
          </a:p>
        </p:txBody>
      </p:sp>
      <p:sp>
        <p:nvSpPr>
          <p:cNvPr id="29" name="Text 27"/>
          <p:cNvSpPr/>
          <p:nvPr/>
        </p:nvSpPr>
        <p:spPr>
          <a:xfrm>
            <a:off x="2514600" y="3968496"/>
            <a:ext cx="28346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Employees revert to Excel out of habit. The new system exists but nobody trusts it — so the data quality problem never gets solved.</a:t>
            </a:r>
            <a:endParaRPr lang="en-US" sz="1000" dirty="0"/>
          </a:p>
        </p:txBody>
      </p:sp>
      <p:sp>
        <p:nvSpPr>
          <p:cNvPr id="30" name="Shape 28"/>
          <p:cNvSpPr/>
          <p:nvPr/>
        </p:nvSpPr>
        <p:spPr>
          <a:xfrm>
            <a:off x="5440680" y="4005072"/>
            <a:ext cx="0" cy="621792"/>
          </a:xfrm>
          <a:prstGeom prst="line">
            <a:avLst/>
          </a:prstGeom>
          <a:noFill/>
          <a:ln w="12700">
            <a:solidFill>
              <a:srgbClr val="CBD5E0"/>
            </a:solidFill>
            <a:prstDash val="solid"/>
          </a:ln>
        </p:spPr>
        <p:txBody>
          <a:bodyPr/>
          <a:lstStyle/>
          <a:p>
            <a:endParaRPr lang="en-GH"/>
          </a:p>
        </p:txBody>
      </p:sp>
      <p:sp>
        <p:nvSpPr>
          <p:cNvPr id="31" name="Text 29"/>
          <p:cNvSpPr/>
          <p:nvPr/>
        </p:nvSpPr>
        <p:spPr>
          <a:xfrm>
            <a:off x="5577840" y="3968496"/>
            <a:ext cx="3063240" cy="676656"/>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Mitigation: Structured training and change management treated as a formal project workstream, not an afterthought added at the end.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SCOPE &amp; SEQUENCING</a:t>
            </a:r>
            <a:endParaRPr lang="en-US" sz="1100" dirty="0"/>
          </a:p>
        </p:txBody>
      </p:sp>
      <p:sp>
        <p:nvSpPr>
          <p:cNvPr id="3" name="Text 1"/>
          <p:cNvSpPr/>
          <p:nvPr/>
        </p:nvSpPr>
        <p:spPr>
          <a:xfrm>
            <a:off x="457200" y="566928"/>
            <a:ext cx="8229600" cy="502920"/>
          </a:xfrm>
          <a:prstGeom prst="rect">
            <a:avLst/>
          </a:prstGeom>
          <a:noFill/>
          <a:ln/>
        </p:spPr>
        <p:txBody>
          <a:bodyPr wrap="square" rtlCol="0" anchor="ctr"/>
          <a:lstStyle/>
          <a:p>
            <a:pPr marL="0" indent="0">
              <a:buNone/>
            </a:pPr>
            <a:r>
              <a:rPr lang="en-US" sz="2400" b="1" dirty="0">
                <a:solidFill>
                  <a:srgbClr val="1A202C"/>
                </a:solidFill>
                <a:latin typeface="Cambria" pitchFamily="34" charset="0"/>
                <a:ea typeface="Cambria" pitchFamily="34" charset="-122"/>
                <a:cs typeface="Cambria" pitchFamily="34" charset="-120"/>
              </a:rPr>
              <a:t>What Goes Live on Day 1 vs. What Gets Deferred</a:t>
            </a:r>
            <a:endParaRPr lang="en-US" sz="2400" dirty="0"/>
          </a:p>
        </p:txBody>
      </p:sp>
      <p:sp>
        <p:nvSpPr>
          <p:cNvPr id="4" name="Shape 2"/>
          <p:cNvSpPr/>
          <p:nvPr/>
        </p:nvSpPr>
        <p:spPr>
          <a:xfrm>
            <a:off x="365760" y="1234440"/>
            <a:ext cx="3931920" cy="3566160"/>
          </a:xfrm>
          <a:prstGeom prst="roundRect">
            <a:avLst>
              <a:gd name="adj" fmla="val 2564"/>
            </a:avLst>
          </a:prstGeom>
          <a:solidFill>
            <a:srgbClr val="F0FFF4"/>
          </a:solidFill>
          <a:ln w="19050">
            <a:solidFill>
              <a:srgbClr val="48BB78"/>
            </a:solidFill>
            <a:prstDash val="solid"/>
          </a:ln>
        </p:spPr>
        <p:txBody>
          <a:bodyPr/>
          <a:lstStyle/>
          <a:p>
            <a:endParaRPr lang="en-GH"/>
          </a:p>
        </p:txBody>
      </p:sp>
      <p:sp>
        <p:nvSpPr>
          <p:cNvPr id="5" name="Text 3"/>
          <p:cNvSpPr/>
          <p:nvPr/>
        </p:nvSpPr>
        <p:spPr>
          <a:xfrm>
            <a:off x="457200" y="1353312"/>
            <a:ext cx="3749040" cy="320040"/>
          </a:xfrm>
          <a:prstGeom prst="rect">
            <a:avLst/>
          </a:prstGeom>
          <a:noFill/>
          <a:ln/>
        </p:spPr>
        <p:txBody>
          <a:bodyPr wrap="square" rtlCol="0" anchor="ctr"/>
          <a:lstStyle/>
          <a:p>
            <a:pPr marL="0" indent="0" algn="ctr">
              <a:buNone/>
            </a:pPr>
            <a:r>
              <a:rPr lang="en-US" sz="1100" b="1" kern="0" spc="200" dirty="0">
                <a:solidFill>
                  <a:srgbClr val="276749"/>
                </a:solidFill>
                <a:latin typeface="Calibri" pitchFamily="34" charset="0"/>
                <a:ea typeface="Calibri" pitchFamily="34" charset="-122"/>
                <a:cs typeface="Calibri" pitchFamily="34" charset="-120"/>
              </a:rPr>
              <a:t>DAY 1 MUST-HAVES</a:t>
            </a:r>
            <a:endParaRPr lang="en-US" sz="1100" dirty="0"/>
          </a:p>
        </p:txBody>
      </p:sp>
      <p:sp>
        <p:nvSpPr>
          <p:cNvPr id="6" name="Text 4"/>
          <p:cNvSpPr/>
          <p:nvPr/>
        </p:nvSpPr>
        <p:spPr>
          <a:xfrm>
            <a:off x="548640" y="1719072"/>
            <a:ext cx="3566160" cy="256032"/>
          </a:xfrm>
          <a:prstGeom prst="rect">
            <a:avLst/>
          </a:prstGeom>
          <a:noFill/>
          <a:ln/>
        </p:spPr>
        <p:txBody>
          <a:bodyPr wrap="square" rtlCol="0" anchor="ctr"/>
          <a:lstStyle/>
          <a:p>
            <a:pPr marL="0" indent="0">
              <a:buNone/>
            </a:pPr>
            <a:endParaRPr lang="en-US" sz="1000" dirty="0"/>
          </a:p>
        </p:txBody>
      </p:sp>
      <p:sp>
        <p:nvSpPr>
          <p:cNvPr id="7" name="Text 5"/>
          <p:cNvSpPr/>
          <p:nvPr/>
        </p:nvSpPr>
        <p:spPr>
          <a:xfrm>
            <a:off x="548640" y="1097280"/>
            <a:ext cx="3566160" cy="3377738"/>
          </a:xfrm>
          <a:prstGeom prst="rect">
            <a:avLst/>
          </a:prstGeom>
          <a:noFill/>
          <a:ln/>
        </p:spPr>
        <p:txBody>
          <a:bodyPr wrap="square" rtlCol="0" anchor="ctr"/>
          <a:lstStyle/>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Core Financials — Record all money in and out from day one (general ledger, payables, receivables)</a:t>
            </a:r>
            <a:endParaRPr lang="en-US" sz="1050" dirty="0"/>
          </a:p>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Manufacturing and MRP — Calculate what materials to order and when based on live production</a:t>
            </a:r>
            <a:endParaRPr lang="en-US" sz="1050" dirty="0"/>
          </a:p>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Procurement — Raise and track purchase orders to suppliers</a:t>
            </a:r>
            <a:endParaRPr lang="en-US" sz="1050" dirty="0"/>
          </a:p>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Real-time BOM Integration — Replace the broken nightly sync with a live engineering connection</a:t>
            </a:r>
            <a:endParaRPr lang="en-US" sz="1050" dirty="0"/>
          </a:p>
        </p:txBody>
      </p:sp>
      <p:sp>
        <p:nvSpPr>
          <p:cNvPr id="8" name="Shape 6"/>
          <p:cNvSpPr/>
          <p:nvPr/>
        </p:nvSpPr>
        <p:spPr>
          <a:xfrm>
            <a:off x="4572000" y="1234440"/>
            <a:ext cx="4206240" cy="3566160"/>
          </a:xfrm>
          <a:prstGeom prst="roundRect">
            <a:avLst>
              <a:gd name="adj" fmla="val 2564"/>
            </a:avLst>
          </a:prstGeom>
          <a:solidFill>
            <a:srgbClr val="FFF5F5"/>
          </a:solidFill>
          <a:ln w="19050">
            <a:solidFill>
              <a:srgbClr val="FC8181"/>
            </a:solidFill>
            <a:prstDash val="solid"/>
          </a:ln>
        </p:spPr>
        <p:txBody>
          <a:bodyPr/>
          <a:lstStyle/>
          <a:p>
            <a:endParaRPr lang="en-GH" dirty="0"/>
          </a:p>
        </p:txBody>
      </p:sp>
      <p:sp>
        <p:nvSpPr>
          <p:cNvPr id="9" name="Text 7"/>
          <p:cNvSpPr/>
          <p:nvPr/>
        </p:nvSpPr>
        <p:spPr>
          <a:xfrm>
            <a:off x="4663440" y="1353312"/>
            <a:ext cx="4023360" cy="320040"/>
          </a:xfrm>
          <a:prstGeom prst="rect">
            <a:avLst/>
          </a:prstGeom>
          <a:noFill/>
          <a:ln/>
        </p:spPr>
        <p:txBody>
          <a:bodyPr wrap="square" rtlCol="0" anchor="ctr"/>
          <a:lstStyle/>
          <a:p>
            <a:pPr marL="0" indent="0" algn="ctr">
              <a:buNone/>
            </a:pPr>
            <a:r>
              <a:rPr lang="en-US" sz="1100" b="1" kern="0" spc="200" dirty="0">
                <a:solidFill>
                  <a:srgbClr val="9B2C2C"/>
                </a:solidFill>
                <a:latin typeface="Calibri" pitchFamily="34" charset="0"/>
                <a:ea typeface="Calibri" pitchFamily="34" charset="-122"/>
                <a:cs typeface="Calibri" pitchFamily="34" charset="-120"/>
              </a:rPr>
              <a:t>DELIBERATE DEFERRALS</a:t>
            </a:r>
            <a:endParaRPr lang="en-US" sz="1100" dirty="0"/>
          </a:p>
        </p:txBody>
      </p:sp>
      <p:sp>
        <p:nvSpPr>
          <p:cNvPr id="10" name="Text 8"/>
          <p:cNvSpPr/>
          <p:nvPr/>
        </p:nvSpPr>
        <p:spPr>
          <a:xfrm>
            <a:off x="4754880" y="1719072"/>
            <a:ext cx="3840480" cy="256032"/>
          </a:xfrm>
          <a:prstGeom prst="rect">
            <a:avLst/>
          </a:prstGeom>
          <a:noFill/>
          <a:ln/>
        </p:spPr>
        <p:txBody>
          <a:bodyPr wrap="square" rtlCol="0" anchor="ctr"/>
          <a:lstStyle/>
          <a:p>
            <a:pPr marL="0" indent="0">
              <a:buNone/>
            </a:pPr>
            <a:endParaRPr lang="en-US" sz="1000" dirty="0"/>
          </a:p>
        </p:txBody>
      </p:sp>
      <p:sp>
        <p:nvSpPr>
          <p:cNvPr id="11" name="Text 9"/>
          <p:cNvSpPr/>
          <p:nvPr/>
        </p:nvSpPr>
        <p:spPr>
          <a:xfrm>
            <a:off x="4754880" y="1565563"/>
            <a:ext cx="3840480" cy="2424545"/>
          </a:xfrm>
          <a:prstGeom prst="rect">
            <a:avLst/>
          </a:prstGeom>
          <a:noFill/>
          <a:ln/>
        </p:spPr>
        <p:txBody>
          <a:bodyPr wrap="square" rtlCol="0" anchor="ctr"/>
          <a:lstStyle/>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CRM Integration — The factory can operate without the sales system being connected on launch day</a:t>
            </a:r>
            <a:endParaRPr lang="en-US" sz="1050" dirty="0"/>
          </a:p>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Advanced Reports and Dashboards — Only build reports after one full quarter of clean, reliable data is flowing through the new system</a:t>
            </a:r>
            <a:endParaRPr lang="en-US" sz="1050" dirty="0"/>
          </a:p>
          <a:p>
            <a:pPr marL="342900" indent="-342900">
              <a:spcAft>
                <a:spcPts val="700"/>
              </a:spcAft>
              <a:buSzPct val="100000"/>
              <a:buChar char="•"/>
            </a:pPr>
            <a:r>
              <a:rPr lang="en-US" sz="1050" dirty="0">
                <a:solidFill>
                  <a:srgbClr val="4A5568"/>
                </a:solidFill>
                <a:latin typeface="Calibri" pitchFamily="34" charset="0"/>
                <a:ea typeface="Calibri" pitchFamily="34" charset="-122"/>
                <a:cs typeface="Calibri" pitchFamily="34" charset="-120"/>
              </a:rPr>
              <a:t>HR and Payroll Migration — Payroll errors have legal consequences. This runs as a separate, careful workstream after the core ERP is stable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2E4A8A">
              <a:alpha val="35000"/>
            </a:srgbClr>
          </a:solidFill>
          <a:ln w="12700">
            <a:solidFill>
              <a:srgbClr val="2E4A8A">
                <a:alpha val="35000"/>
              </a:srgbClr>
            </a:solidFill>
            <a:prstDash val="solid"/>
          </a:ln>
        </p:spPr>
        <p:txBody>
          <a:bodyPr/>
          <a:lstStyle/>
          <a:p>
            <a:endParaRPr lang="en-GH"/>
          </a:p>
        </p:txBody>
      </p:sp>
      <p:sp>
        <p:nvSpPr>
          <p:cNvPr id="3" name="Text 1"/>
          <p:cNvSpPr/>
          <p:nvPr/>
        </p:nvSpPr>
        <p:spPr>
          <a:xfrm>
            <a:off x="548640" y="32004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CUSTOMISATION DISCIPLINE</a:t>
            </a:r>
            <a:endParaRPr lang="en-US" sz="1100" dirty="0"/>
          </a:p>
        </p:txBody>
      </p:sp>
      <p:sp>
        <p:nvSpPr>
          <p:cNvPr id="4" name="Text 2"/>
          <p:cNvSpPr/>
          <p:nvPr/>
        </p:nvSpPr>
        <p:spPr>
          <a:xfrm>
            <a:off x="548640" y="731520"/>
            <a:ext cx="6858000" cy="10972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Rule That Protects</a:t>
            </a:r>
            <a:endParaRPr lang="en-US" sz="3200" dirty="0"/>
          </a:p>
          <a:p>
            <a:pPr marL="0" indent="0">
              <a:buNone/>
            </a:pPr>
            <a:r>
              <a:rPr lang="en-US" sz="3200" b="1" dirty="0">
                <a:solidFill>
                  <a:srgbClr val="FFFFFF"/>
                </a:solidFill>
                <a:latin typeface="Cambria" pitchFamily="34" charset="0"/>
                <a:ea typeface="Cambria" pitchFamily="34" charset="-122"/>
                <a:cs typeface="Cambria" pitchFamily="34" charset="-120"/>
              </a:rPr>
              <a:t>the Entire Program</a:t>
            </a:r>
            <a:endParaRPr lang="en-US" sz="3200" dirty="0"/>
          </a:p>
        </p:txBody>
      </p:sp>
      <p:sp>
        <p:nvSpPr>
          <p:cNvPr id="5" name="Shape 3"/>
          <p:cNvSpPr/>
          <p:nvPr/>
        </p:nvSpPr>
        <p:spPr>
          <a:xfrm>
            <a:off x="731520" y="1920240"/>
            <a:ext cx="7680960" cy="1005840"/>
          </a:xfrm>
          <a:prstGeom prst="roundRect">
            <a:avLst>
              <a:gd name="adj" fmla="val 9091"/>
            </a:avLst>
          </a:prstGeom>
          <a:solidFill>
            <a:srgbClr val="0D9488">
              <a:alpha val="80000"/>
            </a:srgbClr>
          </a:solidFill>
          <a:ln w="19050">
            <a:solidFill>
              <a:srgbClr val="0D9488"/>
            </a:solidFill>
            <a:prstDash val="solid"/>
          </a:ln>
        </p:spPr>
        <p:txBody>
          <a:bodyPr/>
          <a:lstStyle/>
          <a:p>
            <a:endParaRPr lang="en-GH"/>
          </a:p>
        </p:txBody>
      </p:sp>
      <p:sp>
        <p:nvSpPr>
          <p:cNvPr id="6" name="Text 4"/>
          <p:cNvSpPr/>
          <p:nvPr/>
        </p:nvSpPr>
        <p:spPr>
          <a:xfrm>
            <a:off x="914400" y="1993392"/>
            <a:ext cx="7315200" cy="822960"/>
          </a:xfrm>
          <a:prstGeom prst="rect">
            <a:avLst/>
          </a:prstGeom>
          <a:noFill/>
          <a:ln/>
        </p:spPr>
        <p:txBody>
          <a:bodyPr wrap="square" rtlCol="0" anchor="ctr"/>
          <a:lstStyle/>
          <a:p>
            <a:pPr marL="0" indent="0" algn="ctr">
              <a:buNone/>
            </a:pPr>
            <a:r>
              <a:rPr lang="en-US" sz="1800" b="1" i="1" dirty="0">
                <a:solidFill>
                  <a:srgbClr val="FFFFFF"/>
                </a:solidFill>
                <a:latin typeface="Cambria" pitchFamily="34" charset="0"/>
                <a:ea typeface="Cambria" pitchFamily="34" charset="-122"/>
                <a:cs typeface="Cambria" pitchFamily="34" charset="-120"/>
              </a:rPr>
              <a:t>Configure the business to fit the software, not the other way around.</a:t>
            </a:r>
            <a:endParaRPr lang="en-US" sz="1800" dirty="0"/>
          </a:p>
        </p:txBody>
      </p:sp>
      <p:sp>
        <p:nvSpPr>
          <p:cNvPr id="7" name="Shape 5"/>
          <p:cNvSpPr/>
          <p:nvPr/>
        </p:nvSpPr>
        <p:spPr>
          <a:xfrm>
            <a:off x="640080" y="3090672"/>
            <a:ext cx="201168" cy="201168"/>
          </a:xfrm>
          <a:prstGeom prst="ellipse">
            <a:avLst/>
          </a:prstGeom>
          <a:solidFill>
            <a:srgbClr val="0D9488"/>
          </a:solidFill>
          <a:ln w="12700">
            <a:solidFill>
              <a:srgbClr val="0D9488"/>
            </a:solidFill>
            <a:prstDash val="solid"/>
          </a:ln>
        </p:spPr>
        <p:txBody>
          <a:bodyPr/>
          <a:lstStyle/>
          <a:p>
            <a:endParaRPr lang="en-GH"/>
          </a:p>
        </p:txBody>
      </p:sp>
      <p:sp>
        <p:nvSpPr>
          <p:cNvPr id="8" name="Text 6"/>
          <p:cNvSpPr/>
          <p:nvPr/>
        </p:nvSpPr>
        <p:spPr>
          <a:xfrm>
            <a:off x="960120" y="3044952"/>
            <a:ext cx="7772400" cy="41148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Modern ERP platforms are built on industry best practices. In most cases, the standard process is actually better than what AMG does today.</a:t>
            </a:r>
            <a:endParaRPr lang="en-US" sz="1150" dirty="0"/>
          </a:p>
        </p:txBody>
      </p:sp>
      <p:sp>
        <p:nvSpPr>
          <p:cNvPr id="9" name="Shape 7"/>
          <p:cNvSpPr/>
          <p:nvPr/>
        </p:nvSpPr>
        <p:spPr>
          <a:xfrm>
            <a:off x="640080" y="3621024"/>
            <a:ext cx="201168" cy="201168"/>
          </a:xfrm>
          <a:prstGeom prst="ellipse">
            <a:avLst/>
          </a:prstGeom>
          <a:solidFill>
            <a:srgbClr val="0D9488"/>
          </a:solidFill>
          <a:ln w="12700">
            <a:solidFill>
              <a:srgbClr val="0D9488"/>
            </a:solidFill>
            <a:prstDash val="solid"/>
          </a:ln>
        </p:spPr>
        <p:txBody>
          <a:bodyPr/>
          <a:lstStyle/>
          <a:p>
            <a:endParaRPr lang="en-GH"/>
          </a:p>
        </p:txBody>
      </p:sp>
      <p:sp>
        <p:nvSpPr>
          <p:cNvPr id="10" name="Text 8"/>
          <p:cNvSpPr/>
          <p:nvPr/>
        </p:nvSpPr>
        <p:spPr>
          <a:xfrm>
            <a:off x="960120" y="3575304"/>
            <a:ext cx="7772400" cy="41148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Every customisation adds cost, extends testing time, and makes future upgrades harder. The answer to any customisation request is NO by default.</a:t>
            </a:r>
            <a:endParaRPr lang="en-US" sz="1150" dirty="0"/>
          </a:p>
        </p:txBody>
      </p:sp>
      <p:sp>
        <p:nvSpPr>
          <p:cNvPr id="11" name="Shape 9"/>
          <p:cNvSpPr/>
          <p:nvPr/>
        </p:nvSpPr>
        <p:spPr>
          <a:xfrm>
            <a:off x="640080" y="4151376"/>
            <a:ext cx="201168" cy="201168"/>
          </a:xfrm>
          <a:prstGeom prst="ellipse">
            <a:avLst/>
          </a:prstGeom>
          <a:solidFill>
            <a:srgbClr val="0D9488"/>
          </a:solidFill>
          <a:ln w="12700">
            <a:solidFill>
              <a:srgbClr val="0D9488"/>
            </a:solidFill>
            <a:prstDash val="solid"/>
          </a:ln>
        </p:spPr>
        <p:txBody>
          <a:bodyPr/>
          <a:lstStyle/>
          <a:p>
            <a:endParaRPr lang="en-GH"/>
          </a:p>
        </p:txBody>
      </p:sp>
      <p:sp>
        <p:nvSpPr>
          <p:cNvPr id="12" name="Text 10"/>
          <p:cNvSpPr/>
          <p:nvPr/>
        </p:nvSpPr>
        <p:spPr>
          <a:xfrm>
            <a:off x="960120" y="4105656"/>
            <a:ext cx="7772400" cy="41148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If a genuine exception is needed, it must go through formal executive approval with a documented business justification.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DATA &amp; REPORTING CONTINUITY</a:t>
            </a:r>
            <a:endParaRPr lang="en-US" sz="1100" dirty="0"/>
          </a:p>
        </p:txBody>
      </p:sp>
      <p:sp>
        <p:nvSpPr>
          <p:cNvPr id="3" name="Text 1"/>
          <p:cNvSpPr/>
          <p:nvPr/>
        </p:nvSpPr>
        <p:spPr>
          <a:xfrm>
            <a:off x="457200" y="566928"/>
            <a:ext cx="8229600" cy="502920"/>
          </a:xfrm>
          <a:prstGeom prst="rect">
            <a:avLst/>
          </a:prstGeom>
          <a:noFill/>
          <a:ln/>
        </p:spPr>
        <p:txBody>
          <a:bodyPr wrap="square" rtlCol="0" anchor="ctr"/>
          <a:lstStyle/>
          <a:p>
            <a:pPr marL="0" indent="0">
              <a:buNone/>
            </a:pPr>
            <a:r>
              <a:rPr lang="en-US" sz="2200" b="1" dirty="0">
                <a:solidFill>
                  <a:srgbClr val="1A202C"/>
                </a:solidFill>
                <a:latin typeface="Cambria" pitchFamily="34" charset="0"/>
                <a:ea typeface="Cambria" pitchFamily="34" charset="-122"/>
                <a:cs typeface="Cambria" pitchFamily="34" charset="-120"/>
              </a:rPr>
              <a:t>Leadership Never Loses Visibility During the Transition</a:t>
            </a:r>
            <a:endParaRPr lang="en-US" sz="2200" dirty="0"/>
          </a:p>
        </p:txBody>
      </p:sp>
      <p:sp>
        <p:nvSpPr>
          <p:cNvPr id="4" name="Shape 2"/>
          <p:cNvSpPr/>
          <p:nvPr/>
        </p:nvSpPr>
        <p:spPr>
          <a:xfrm>
            <a:off x="365760" y="1234440"/>
            <a:ext cx="2651760" cy="3566160"/>
          </a:xfrm>
          <a:prstGeom prst="roundRect">
            <a:avLst>
              <a:gd name="adj" fmla="val 2759"/>
            </a:avLst>
          </a:prstGeom>
          <a:solidFill>
            <a:srgbClr val="EBF8FF"/>
          </a:solidFill>
          <a:ln w="19050">
            <a:solidFill>
              <a:srgbClr val="4299E1"/>
            </a:solidFill>
            <a:prstDash val="solid"/>
          </a:ln>
        </p:spPr>
        <p:txBody>
          <a:bodyPr/>
          <a:lstStyle/>
          <a:p>
            <a:endParaRPr lang="en-GH"/>
          </a:p>
        </p:txBody>
      </p:sp>
      <p:sp>
        <p:nvSpPr>
          <p:cNvPr id="5" name="Text 3"/>
          <p:cNvSpPr/>
          <p:nvPr/>
        </p:nvSpPr>
        <p:spPr>
          <a:xfrm>
            <a:off x="457200" y="1325880"/>
            <a:ext cx="2468880" cy="457200"/>
          </a:xfrm>
          <a:prstGeom prst="rect">
            <a:avLst/>
          </a:prstGeom>
          <a:noFill/>
          <a:ln/>
        </p:spPr>
        <p:txBody>
          <a:bodyPr wrap="square" rtlCol="0" anchor="ctr"/>
          <a:lstStyle/>
          <a:p>
            <a:pPr marL="0" indent="0" algn="ctr">
              <a:buNone/>
            </a:pPr>
            <a:r>
              <a:rPr lang="en-US" sz="1200" b="1" dirty="0">
                <a:solidFill>
                  <a:srgbClr val="1A202C"/>
                </a:solidFill>
                <a:latin typeface="Calibri" pitchFamily="34" charset="0"/>
                <a:ea typeface="Calibri" pitchFamily="34" charset="-122"/>
                <a:cs typeface="Calibri" pitchFamily="34" charset="-120"/>
              </a:rPr>
              <a:t>What Data Do We Move?</a:t>
            </a:r>
            <a:endParaRPr lang="en-US" sz="1200" dirty="0"/>
          </a:p>
        </p:txBody>
      </p:sp>
      <p:sp>
        <p:nvSpPr>
          <p:cNvPr id="6" name="Text 4"/>
          <p:cNvSpPr/>
          <p:nvPr/>
        </p:nvSpPr>
        <p:spPr>
          <a:xfrm>
            <a:off x="502920" y="1874520"/>
            <a:ext cx="2377440" cy="2834640"/>
          </a:xfrm>
          <a:prstGeom prst="rect">
            <a:avLst/>
          </a:prstGeom>
          <a:noFill/>
          <a:ln/>
        </p:spPr>
        <p:txBody>
          <a:bodyPr wrap="square"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Move only what is currently active: live orders, outstanding invoices, current inventory levels, open purchase orders</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Historical data older than 3 years goes into a read-only archive — still accessible if needed, but not cluttering the new system</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Avoid the common mistake of migrating 20 years of messy records into a clean new platform</a:t>
            </a:r>
            <a:endParaRPr lang="en-US" sz="1000" dirty="0"/>
          </a:p>
        </p:txBody>
      </p:sp>
      <p:sp>
        <p:nvSpPr>
          <p:cNvPr id="7" name="Shape 5"/>
          <p:cNvSpPr/>
          <p:nvPr/>
        </p:nvSpPr>
        <p:spPr>
          <a:xfrm>
            <a:off x="3200400" y="1234440"/>
            <a:ext cx="2651760" cy="3566160"/>
          </a:xfrm>
          <a:prstGeom prst="roundRect">
            <a:avLst>
              <a:gd name="adj" fmla="val 2759"/>
            </a:avLst>
          </a:prstGeom>
          <a:solidFill>
            <a:srgbClr val="F0FFF4"/>
          </a:solidFill>
          <a:ln w="19050">
            <a:solidFill>
              <a:srgbClr val="48BB78"/>
            </a:solidFill>
            <a:prstDash val="solid"/>
          </a:ln>
        </p:spPr>
        <p:txBody>
          <a:bodyPr/>
          <a:lstStyle/>
          <a:p>
            <a:endParaRPr lang="en-GH"/>
          </a:p>
        </p:txBody>
      </p:sp>
      <p:sp>
        <p:nvSpPr>
          <p:cNvPr id="8" name="Text 6"/>
          <p:cNvSpPr/>
          <p:nvPr/>
        </p:nvSpPr>
        <p:spPr>
          <a:xfrm>
            <a:off x="3291840" y="1325880"/>
            <a:ext cx="2468880" cy="457200"/>
          </a:xfrm>
          <a:prstGeom prst="rect">
            <a:avLst/>
          </a:prstGeom>
          <a:noFill/>
          <a:ln/>
        </p:spPr>
        <p:txBody>
          <a:bodyPr wrap="square" rtlCol="0" anchor="ctr"/>
          <a:lstStyle/>
          <a:p>
            <a:pPr marL="0" indent="0" algn="ctr">
              <a:buNone/>
            </a:pPr>
            <a:r>
              <a:rPr lang="en-US" sz="1200" b="1" dirty="0">
                <a:solidFill>
                  <a:srgbClr val="1A202C"/>
                </a:solidFill>
                <a:latin typeface="Calibri" pitchFamily="34" charset="0"/>
                <a:ea typeface="Calibri" pitchFamily="34" charset="-122"/>
                <a:cs typeface="Calibri" pitchFamily="34" charset="-120"/>
              </a:rPr>
              <a:t>Who Reports What and When?</a:t>
            </a:r>
            <a:endParaRPr lang="en-US" sz="1200" dirty="0"/>
          </a:p>
        </p:txBody>
      </p:sp>
      <p:sp>
        <p:nvSpPr>
          <p:cNvPr id="9" name="Text 7"/>
          <p:cNvSpPr/>
          <p:nvPr/>
        </p:nvSpPr>
        <p:spPr>
          <a:xfrm>
            <a:off x="3337560" y="1874520"/>
            <a:ext cx="2377440" cy="2834640"/>
          </a:xfrm>
          <a:prstGeom prst="rect">
            <a:avLst/>
          </a:prstGeom>
          <a:noFill/>
          <a:ln/>
        </p:spPr>
        <p:txBody>
          <a:bodyPr wrap="square"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During parallel operations, all reports still come from the old system</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We only switch reporting to the new system after both systems show matching numbers</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Every critical KPI — margin per order, order backlog, labour cost — has a named person responsible for it throughout the transition</a:t>
            </a:r>
            <a:endParaRPr lang="en-US" sz="1000" dirty="0"/>
          </a:p>
        </p:txBody>
      </p:sp>
      <p:sp>
        <p:nvSpPr>
          <p:cNvPr id="10" name="Shape 8"/>
          <p:cNvSpPr/>
          <p:nvPr/>
        </p:nvSpPr>
        <p:spPr>
          <a:xfrm>
            <a:off x="6035040" y="1234440"/>
            <a:ext cx="2651760" cy="3566160"/>
          </a:xfrm>
          <a:prstGeom prst="roundRect">
            <a:avLst>
              <a:gd name="adj" fmla="val 2759"/>
            </a:avLst>
          </a:prstGeom>
          <a:solidFill>
            <a:srgbClr val="FFFAF0"/>
          </a:solidFill>
          <a:ln w="19050">
            <a:solidFill>
              <a:srgbClr val="ED8936"/>
            </a:solidFill>
            <a:prstDash val="solid"/>
          </a:ln>
        </p:spPr>
        <p:txBody>
          <a:bodyPr/>
          <a:lstStyle/>
          <a:p>
            <a:endParaRPr lang="en-GH"/>
          </a:p>
        </p:txBody>
      </p:sp>
      <p:sp>
        <p:nvSpPr>
          <p:cNvPr id="11" name="Text 9"/>
          <p:cNvSpPr/>
          <p:nvPr/>
        </p:nvSpPr>
        <p:spPr>
          <a:xfrm>
            <a:off x="6126480" y="1325880"/>
            <a:ext cx="2468880" cy="457200"/>
          </a:xfrm>
          <a:prstGeom prst="rect">
            <a:avLst/>
          </a:prstGeom>
          <a:noFill/>
          <a:ln/>
        </p:spPr>
        <p:txBody>
          <a:bodyPr wrap="square" rtlCol="0" anchor="ctr"/>
          <a:lstStyle/>
          <a:p>
            <a:pPr marL="0" indent="0" algn="ctr">
              <a:buNone/>
            </a:pPr>
            <a:r>
              <a:rPr lang="en-US" sz="1200" b="1" dirty="0">
                <a:solidFill>
                  <a:srgbClr val="1A202C"/>
                </a:solidFill>
                <a:latin typeface="Calibri" pitchFamily="34" charset="0"/>
                <a:ea typeface="Calibri" pitchFamily="34" charset="-122"/>
                <a:cs typeface="Calibri" pitchFamily="34" charset="-120"/>
              </a:rPr>
              <a:t>Protecting Month-End Close</a:t>
            </a:r>
            <a:endParaRPr lang="en-US" sz="1200" dirty="0"/>
          </a:p>
        </p:txBody>
      </p:sp>
      <p:sp>
        <p:nvSpPr>
          <p:cNvPr id="12" name="Text 10"/>
          <p:cNvSpPr/>
          <p:nvPr/>
        </p:nvSpPr>
        <p:spPr>
          <a:xfrm>
            <a:off x="6172200" y="1874520"/>
            <a:ext cx="2377440" cy="2834640"/>
          </a:xfrm>
          <a:prstGeom prst="rect">
            <a:avLst/>
          </a:prstGeom>
          <a:noFill/>
          <a:ln/>
        </p:spPr>
        <p:txBody>
          <a:bodyPr wrap="square"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Go-live is planned away from any month-end, quarter-end, or year-end close period</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The first close on the new system is treated as a practice run with extra time and additional finance support</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No finance team is forced to close the books on an unfamiliar system under deadline pressure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PRINCIPLES FOR SUCCESS</a:t>
            </a:r>
            <a:endParaRPr lang="en-US" sz="1100" dirty="0"/>
          </a:p>
        </p:txBody>
      </p:sp>
      <p:sp>
        <p:nvSpPr>
          <p:cNvPr id="3" name="Text 1"/>
          <p:cNvSpPr/>
          <p:nvPr/>
        </p:nvSpPr>
        <p:spPr>
          <a:xfrm>
            <a:off x="457200" y="566928"/>
            <a:ext cx="8229600" cy="502920"/>
          </a:xfrm>
          <a:prstGeom prst="rect">
            <a:avLst/>
          </a:prstGeom>
          <a:noFill/>
          <a:ln/>
        </p:spPr>
        <p:txBody>
          <a:bodyPr wrap="square" rtlCol="0" anchor="ctr"/>
          <a:lstStyle/>
          <a:p>
            <a:pPr marL="0" indent="0">
              <a:buNone/>
            </a:pPr>
            <a:r>
              <a:rPr lang="en-US" sz="2400" b="1" dirty="0">
                <a:solidFill>
                  <a:srgbClr val="1A202C"/>
                </a:solidFill>
                <a:latin typeface="Cambria" pitchFamily="34" charset="0"/>
                <a:ea typeface="Cambria" pitchFamily="34" charset="-122"/>
                <a:cs typeface="Cambria" pitchFamily="34" charset="-120"/>
              </a:rPr>
              <a:t>Three Things That Will Make or Break This Program</a:t>
            </a:r>
            <a:endParaRPr lang="en-US" sz="2400" dirty="0"/>
          </a:p>
        </p:txBody>
      </p:sp>
      <p:sp>
        <p:nvSpPr>
          <p:cNvPr id="4" name="Shape 2"/>
          <p:cNvSpPr/>
          <p:nvPr/>
        </p:nvSpPr>
        <p:spPr>
          <a:xfrm>
            <a:off x="365760" y="1234440"/>
            <a:ext cx="8412480" cy="1115568"/>
          </a:xfrm>
          <a:prstGeom prst="roundRect">
            <a:avLst>
              <a:gd name="adj" fmla="val 6557"/>
            </a:avLst>
          </a:prstGeom>
          <a:solidFill>
            <a:srgbClr val="F0F4F8"/>
          </a:solidFill>
          <a:ln w="12700">
            <a:solidFill>
              <a:srgbClr val="CBD5E0"/>
            </a:solidFill>
            <a:prstDash val="solid"/>
          </a:ln>
        </p:spPr>
        <p:txBody>
          <a:bodyPr/>
          <a:lstStyle/>
          <a:p>
            <a:endParaRPr lang="en-GH"/>
          </a:p>
        </p:txBody>
      </p:sp>
      <p:sp>
        <p:nvSpPr>
          <p:cNvPr id="5" name="Shape 3"/>
          <p:cNvSpPr/>
          <p:nvPr/>
        </p:nvSpPr>
        <p:spPr>
          <a:xfrm>
            <a:off x="502920" y="1618488"/>
            <a:ext cx="347472" cy="347472"/>
          </a:xfrm>
          <a:prstGeom prst="ellipse">
            <a:avLst/>
          </a:prstGeom>
          <a:solidFill>
            <a:srgbClr val="0D9488"/>
          </a:solidFill>
          <a:ln w="12700">
            <a:solidFill>
              <a:srgbClr val="0D9488"/>
            </a:solidFill>
            <a:prstDash val="solid"/>
          </a:ln>
        </p:spPr>
        <p:txBody>
          <a:bodyPr/>
          <a:lstStyle/>
          <a:p>
            <a:endParaRPr lang="en-GH"/>
          </a:p>
        </p:txBody>
      </p:sp>
      <p:sp>
        <p:nvSpPr>
          <p:cNvPr id="6" name="Text 4"/>
          <p:cNvSpPr/>
          <p:nvPr/>
        </p:nvSpPr>
        <p:spPr>
          <a:xfrm>
            <a:off x="502920" y="161848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05840" y="1325880"/>
            <a:ext cx="7498080" cy="347472"/>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Data Before Everything</a:t>
            </a:r>
            <a:endParaRPr lang="en-US" sz="1400" dirty="0"/>
          </a:p>
        </p:txBody>
      </p:sp>
      <p:sp>
        <p:nvSpPr>
          <p:cNvPr id="8" name="Text 6"/>
          <p:cNvSpPr/>
          <p:nvPr/>
        </p:nvSpPr>
        <p:spPr>
          <a:xfrm>
            <a:off x="1005840" y="1691640"/>
            <a:ext cx="7589520" cy="59436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 new system built on bad data produces bad outcomes faster than the old one. Before any migration begins, AMG's data, especially the Bill of Materials, must be cleaned, validated, and verified. This is the foundation the entire transformation is built on.</a:t>
            </a:r>
            <a:endParaRPr lang="en-US" sz="1050" dirty="0"/>
          </a:p>
        </p:txBody>
      </p:sp>
      <p:sp>
        <p:nvSpPr>
          <p:cNvPr id="9" name="Shape 7"/>
          <p:cNvSpPr/>
          <p:nvPr/>
        </p:nvSpPr>
        <p:spPr>
          <a:xfrm>
            <a:off x="365760" y="2468880"/>
            <a:ext cx="8412480" cy="1115568"/>
          </a:xfrm>
          <a:prstGeom prst="roundRect">
            <a:avLst>
              <a:gd name="adj" fmla="val 6557"/>
            </a:avLst>
          </a:prstGeom>
          <a:solidFill>
            <a:srgbClr val="F0F4F8"/>
          </a:solidFill>
          <a:ln w="12700">
            <a:solidFill>
              <a:srgbClr val="CBD5E0"/>
            </a:solidFill>
            <a:prstDash val="solid"/>
          </a:ln>
        </p:spPr>
        <p:txBody>
          <a:bodyPr/>
          <a:lstStyle/>
          <a:p>
            <a:endParaRPr lang="en-GH"/>
          </a:p>
        </p:txBody>
      </p:sp>
      <p:sp>
        <p:nvSpPr>
          <p:cNvPr id="10" name="Shape 8"/>
          <p:cNvSpPr/>
          <p:nvPr/>
        </p:nvSpPr>
        <p:spPr>
          <a:xfrm>
            <a:off x="502920" y="2852928"/>
            <a:ext cx="347472" cy="347472"/>
          </a:xfrm>
          <a:prstGeom prst="ellipse">
            <a:avLst/>
          </a:prstGeom>
          <a:solidFill>
            <a:srgbClr val="0D9488"/>
          </a:solidFill>
          <a:ln w="12700">
            <a:solidFill>
              <a:srgbClr val="0D9488"/>
            </a:solidFill>
            <a:prstDash val="solid"/>
          </a:ln>
        </p:spPr>
        <p:txBody>
          <a:bodyPr/>
          <a:lstStyle/>
          <a:p>
            <a:endParaRPr lang="en-GH"/>
          </a:p>
        </p:txBody>
      </p:sp>
      <p:sp>
        <p:nvSpPr>
          <p:cNvPr id="11" name="Text 9"/>
          <p:cNvSpPr/>
          <p:nvPr/>
        </p:nvSpPr>
        <p:spPr>
          <a:xfrm>
            <a:off x="502920" y="285292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05840" y="2560320"/>
            <a:ext cx="7498080" cy="347472"/>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Parallel Operations Are Non-Negotiable</a:t>
            </a:r>
            <a:endParaRPr lang="en-US" sz="1400" dirty="0"/>
          </a:p>
        </p:txBody>
      </p:sp>
      <p:sp>
        <p:nvSpPr>
          <p:cNvPr id="13" name="Text 11"/>
          <p:cNvSpPr/>
          <p:nvPr/>
        </p:nvSpPr>
        <p:spPr>
          <a:xfrm>
            <a:off x="1005840" y="2926080"/>
            <a:ext cx="7589520" cy="59436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Running old and new systems simultaneously during Phase 2 is the safety net that prevents a failed cutover from becoming a business crisis. We do not switch off the old system until the new system has proven it can replace it with verified data.</a:t>
            </a:r>
            <a:endParaRPr lang="en-US" sz="1050" dirty="0"/>
          </a:p>
        </p:txBody>
      </p:sp>
      <p:sp>
        <p:nvSpPr>
          <p:cNvPr id="14" name="Shape 12"/>
          <p:cNvSpPr/>
          <p:nvPr/>
        </p:nvSpPr>
        <p:spPr>
          <a:xfrm>
            <a:off x="365760" y="3703320"/>
            <a:ext cx="8412480" cy="1115568"/>
          </a:xfrm>
          <a:prstGeom prst="roundRect">
            <a:avLst>
              <a:gd name="adj" fmla="val 6557"/>
            </a:avLst>
          </a:prstGeom>
          <a:solidFill>
            <a:srgbClr val="F0F4F8"/>
          </a:solidFill>
          <a:ln w="12700">
            <a:solidFill>
              <a:srgbClr val="CBD5E0"/>
            </a:solidFill>
            <a:prstDash val="solid"/>
          </a:ln>
        </p:spPr>
        <p:txBody>
          <a:bodyPr/>
          <a:lstStyle/>
          <a:p>
            <a:endParaRPr lang="en-GH"/>
          </a:p>
        </p:txBody>
      </p:sp>
      <p:sp>
        <p:nvSpPr>
          <p:cNvPr id="15" name="Shape 13"/>
          <p:cNvSpPr/>
          <p:nvPr/>
        </p:nvSpPr>
        <p:spPr>
          <a:xfrm>
            <a:off x="502920" y="4087368"/>
            <a:ext cx="347472" cy="347472"/>
          </a:xfrm>
          <a:prstGeom prst="ellipse">
            <a:avLst/>
          </a:prstGeom>
          <a:solidFill>
            <a:srgbClr val="0D9488"/>
          </a:solidFill>
          <a:ln w="12700">
            <a:solidFill>
              <a:srgbClr val="0D9488"/>
            </a:solidFill>
            <a:prstDash val="solid"/>
          </a:ln>
        </p:spPr>
        <p:txBody>
          <a:bodyPr/>
          <a:lstStyle/>
          <a:p>
            <a:endParaRPr lang="en-GH"/>
          </a:p>
        </p:txBody>
      </p:sp>
      <p:sp>
        <p:nvSpPr>
          <p:cNvPr id="16" name="Text 14"/>
          <p:cNvSpPr/>
          <p:nvPr/>
        </p:nvSpPr>
        <p:spPr>
          <a:xfrm>
            <a:off x="502920" y="4087368"/>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005840" y="3794760"/>
            <a:ext cx="7498080" cy="347472"/>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People Adoption Determines ROI</a:t>
            </a:r>
            <a:endParaRPr lang="en-US" sz="1400" dirty="0"/>
          </a:p>
        </p:txBody>
      </p:sp>
      <p:sp>
        <p:nvSpPr>
          <p:cNvPr id="18" name="Text 16"/>
          <p:cNvSpPr/>
          <p:nvPr/>
        </p:nvSpPr>
        <p:spPr>
          <a:xfrm>
            <a:off x="1005840" y="4160520"/>
            <a:ext cx="7589520" cy="59436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The return on this investment is only realised if employees actually use the new system. Technology transformations fail most often because of people, not technology. Structured training and change management are not afterthoughts, they are as important as the technical implementation itself.</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2E4A8A">
              <a:alpha val="35000"/>
            </a:srgbClr>
          </a:solidFill>
          <a:ln w="12700">
            <a:solidFill>
              <a:srgbClr val="2E4A8A">
                <a:alpha val="35000"/>
              </a:srgbClr>
            </a:solidFill>
            <a:prstDash val="solid"/>
          </a:ln>
        </p:spPr>
        <p:txBody>
          <a:bodyPr/>
          <a:lstStyle/>
          <a:p>
            <a:endParaRPr lang="en-GH"/>
          </a:p>
        </p:txBody>
      </p:sp>
      <p:sp>
        <p:nvSpPr>
          <p:cNvPr id="3" name="Text 1"/>
          <p:cNvSpPr/>
          <p:nvPr/>
        </p:nvSpPr>
        <p:spPr>
          <a:xfrm>
            <a:off x="548640" y="411480"/>
            <a:ext cx="7315200" cy="365760"/>
          </a:xfrm>
          <a:prstGeom prst="rect">
            <a:avLst/>
          </a:prstGeom>
          <a:noFill/>
          <a:ln/>
        </p:spPr>
        <p:txBody>
          <a:bodyPr wrap="square" rtlCol="0" anchor="ctr"/>
          <a:lstStyle/>
          <a:p>
            <a:pPr marL="0" indent="0">
              <a:buNone/>
            </a:pPr>
            <a:r>
              <a:rPr lang="en-US" sz="1100" b="1" kern="0" spc="300" dirty="0">
                <a:solidFill>
                  <a:srgbClr val="0D9488"/>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548640" y="822960"/>
            <a:ext cx="7315200" cy="14630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cost of inaction is higher</a:t>
            </a:r>
            <a:endParaRPr lang="en-US" sz="3000" dirty="0"/>
          </a:p>
          <a:p>
            <a:pPr marL="0" indent="0">
              <a:buNone/>
            </a:pPr>
            <a:r>
              <a:rPr lang="en-US" sz="3000" b="1" dirty="0">
                <a:solidFill>
                  <a:srgbClr val="FFFFFF"/>
                </a:solidFill>
                <a:latin typeface="Cambria" pitchFamily="34" charset="0"/>
                <a:ea typeface="Cambria" pitchFamily="34" charset="-122"/>
                <a:cs typeface="Cambria" pitchFamily="34" charset="-120"/>
              </a:rPr>
              <a:t>than the cost of transformation</a:t>
            </a:r>
            <a:endParaRPr lang="en-US" sz="3000" dirty="0"/>
          </a:p>
        </p:txBody>
      </p:sp>
      <p:sp>
        <p:nvSpPr>
          <p:cNvPr id="5" name="Text 3"/>
          <p:cNvSpPr/>
          <p:nvPr/>
        </p:nvSpPr>
        <p:spPr>
          <a:xfrm>
            <a:off x="548640" y="2377440"/>
            <a:ext cx="7772400" cy="50292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AMG's margin erosion is compounding. Every month the legacy systems remain in place, the problem grows harder and more expensive to fix.</a:t>
            </a:r>
            <a:endParaRPr lang="en-US" sz="1200" dirty="0"/>
          </a:p>
        </p:txBody>
      </p:sp>
      <p:sp>
        <p:nvSpPr>
          <p:cNvPr id="6" name="Text 4"/>
          <p:cNvSpPr/>
          <p:nvPr/>
        </p:nvSpPr>
        <p:spPr>
          <a:xfrm>
            <a:off x="548640" y="2944368"/>
            <a:ext cx="7772400" cy="1783080"/>
          </a:xfrm>
          <a:prstGeom prst="rect">
            <a:avLst/>
          </a:prstGeom>
          <a:noFill/>
          <a:ln/>
        </p:spPr>
        <p:txBody>
          <a:bodyPr wrap="square" rtlCol="0" anchor="ctr"/>
          <a:lstStyle/>
          <a:p>
            <a:pPr marL="342900" indent="-342900">
              <a:spcAft>
                <a:spcPts val="500"/>
              </a:spcAft>
              <a:buSzPct val="100000"/>
              <a:buChar char="•"/>
            </a:pPr>
            <a:r>
              <a:rPr lang="en-US" sz="1100" dirty="0">
                <a:solidFill>
                  <a:srgbClr val="CADCFC"/>
                </a:solidFill>
                <a:latin typeface="Calibri" pitchFamily="34" charset="0"/>
                <a:ea typeface="Calibri" pitchFamily="34" charset="-122"/>
                <a:cs typeface="Calibri" pitchFamily="34" charset="-120"/>
              </a:rPr>
              <a:t>A phased, 12-month program protects operations while driving the transformation forward</a:t>
            </a:r>
            <a:endParaRPr lang="en-US" sz="1100" dirty="0"/>
          </a:p>
          <a:p>
            <a:pPr marL="342900" indent="-342900">
              <a:spcAft>
                <a:spcPts val="500"/>
              </a:spcAft>
              <a:buSzPct val="100000"/>
              <a:buChar char="•"/>
            </a:pPr>
            <a:r>
              <a:rPr lang="en-US" sz="1100" dirty="0">
                <a:solidFill>
                  <a:srgbClr val="CADCFC"/>
                </a:solidFill>
                <a:latin typeface="Calibri" pitchFamily="34" charset="0"/>
                <a:ea typeface="Calibri" pitchFamily="34" charset="-122"/>
                <a:cs typeface="Calibri" pitchFamily="34" charset="-120"/>
              </a:rPr>
              <a:t>Disciplined scope control and a no-customisation default keeps the program on time and on budget</a:t>
            </a:r>
            <a:endParaRPr lang="en-US" sz="1100" dirty="0"/>
          </a:p>
          <a:p>
            <a:pPr marL="342900" indent="-342900">
              <a:spcAft>
                <a:spcPts val="500"/>
              </a:spcAft>
              <a:buSzPct val="100000"/>
              <a:buChar char="•"/>
            </a:pPr>
            <a:r>
              <a:rPr lang="en-US" sz="1100" dirty="0">
                <a:solidFill>
                  <a:srgbClr val="CADCFC"/>
                </a:solidFill>
                <a:latin typeface="Calibri" pitchFamily="34" charset="0"/>
                <a:ea typeface="Calibri" pitchFamily="34" charset="-122"/>
                <a:cs typeface="Calibri" pitchFamily="34" charset="-120"/>
              </a:rPr>
              <a:t>A data-first approach ensures the new system is built on a clean, verified foundation</a:t>
            </a:r>
            <a:endParaRPr lang="en-US" sz="1100" dirty="0"/>
          </a:p>
          <a:p>
            <a:pPr marL="342900" indent="-342900">
              <a:spcAft>
                <a:spcPts val="500"/>
              </a:spcAft>
              <a:buSzPct val="100000"/>
              <a:buChar char="•"/>
            </a:pPr>
            <a:r>
              <a:rPr lang="en-US" sz="1100" dirty="0">
                <a:solidFill>
                  <a:srgbClr val="CADCFC"/>
                </a:solidFill>
                <a:latin typeface="Calibri" pitchFamily="34" charset="0"/>
                <a:ea typeface="Calibri" pitchFamily="34" charset="-122"/>
                <a:cs typeface="Calibri" pitchFamily="34" charset="-120"/>
              </a:rPr>
              <a:t>Structured change management ensures people adopt the system and the investment delivers real value</a:t>
            </a:r>
            <a:endParaRPr lang="en-US" sz="1100" dirty="0"/>
          </a:p>
          <a:p>
            <a:pPr marL="342900" indent="-342900">
              <a:spcAft>
                <a:spcPts val="500"/>
              </a:spcAft>
              <a:buSzPct val="100000"/>
              <a:buChar char="•"/>
            </a:pPr>
            <a:r>
              <a:rPr lang="en-US" sz="1100" dirty="0">
                <a:solidFill>
                  <a:srgbClr val="CADCFC"/>
                </a:solidFill>
                <a:latin typeface="Calibri" pitchFamily="34" charset="0"/>
                <a:ea typeface="Calibri" pitchFamily="34" charset="-122"/>
                <a:cs typeface="Calibri" pitchFamily="34" charset="-120"/>
              </a:rPr>
              <a:t>Executive commitment is the single most important factor, the project team cannot succeed without it</a:t>
            </a:r>
            <a:endParaRPr lang="en-US" sz="1100" dirty="0"/>
          </a:p>
        </p:txBody>
      </p:sp>
      <p:sp>
        <p:nvSpPr>
          <p:cNvPr id="7" name="Text 5"/>
          <p:cNvSpPr/>
          <p:nvPr/>
        </p:nvSpPr>
        <p:spPr>
          <a:xfrm>
            <a:off x="548640" y="4846320"/>
            <a:ext cx="8229600" cy="201168"/>
          </a:xfrm>
          <a:prstGeom prst="rect">
            <a:avLst/>
          </a:prstGeom>
          <a:noFill/>
          <a:ln/>
        </p:spPr>
        <p:txBody>
          <a:bodyPr wrap="square" rtlCol="0" anchor="ctr"/>
          <a:lstStyle/>
          <a:p>
            <a:pPr marL="0" indent="0">
              <a:buNone/>
            </a:pPr>
            <a:r>
              <a:rPr lang="en-US" sz="800" dirty="0">
                <a:solidFill>
                  <a:srgbClr val="8BAFD4"/>
                </a:solidFill>
                <a:latin typeface="Calibri" pitchFamily="34" charset="0"/>
                <a:ea typeface="Calibri" pitchFamily="34" charset="-122"/>
                <a:cs typeface="Calibri" pitchFamily="34" charset="-120"/>
              </a:rPr>
              <a:t>Jesse Yaw Owusu  |  June 2026  |  AMG ERP Transformation Strategy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2458</Words>
  <Application>Microsoft Office PowerPoint</Application>
  <PresentationFormat>On-screen Show (16:9)</PresentationFormat>
  <Paragraphs>149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AMG ERP Transformation Strategy</dc:title>
  <dc:subject>PptxGenJS Presentation</dc:subject>
  <dc:creator>Jesse Yaw Owusu</dc:creator>
  <cp:lastModifiedBy>Jesse Owusu</cp:lastModifiedBy>
  <cp:revision>3</cp:revision>
  <dcterms:created xsi:type="dcterms:W3CDTF">2026-06-15T11:55:47Z</dcterms:created>
  <dcterms:modified xsi:type="dcterms:W3CDTF">2026-06-16T09:08:04Z</dcterms:modified>
</cp:coreProperties>
</file>